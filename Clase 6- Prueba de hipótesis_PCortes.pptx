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369" r:id="rId2"/>
    <p:sldId id="536" r:id="rId3"/>
    <p:sldId id="542" r:id="rId4"/>
    <p:sldId id="583" r:id="rId5"/>
    <p:sldId id="582" r:id="rId6"/>
    <p:sldId id="584" r:id="rId7"/>
    <p:sldId id="585" r:id="rId8"/>
    <p:sldId id="586" r:id="rId9"/>
    <p:sldId id="587" r:id="rId10"/>
    <p:sldId id="588" r:id="rId11"/>
    <p:sldId id="589" r:id="rId12"/>
    <p:sldId id="590" r:id="rId13"/>
    <p:sldId id="591" r:id="rId14"/>
    <p:sldId id="592" r:id="rId15"/>
    <p:sldId id="595" r:id="rId16"/>
    <p:sldId id="593" r:id="rId17"/>
    <p:sldId id="594" r:id="rId18"/>
    <p:sldId id="597" r:id="rId19"/>
    <p:sldId id="596" r:id="rId20"/>
    <p:sldId id="598" r:id="rId21"/>
    <p:sldId id="600" r:id="rId22"/>
    <p:sldId id="599" r:id="rId23"/>
    <p:sldId id="652" r:id="rId24"/>
    <p:sldId id="601" r:id="rId25"/>
    <p:sldId id="602" r:id="rId26"/>
    <p:sldId id="604" r:id="rId27"/>
    <p:sldId id="603" r:id="rId28"/>
    <p:sldId id="607" r:id="rId29"/>
    <p:sldId id="653" r:id="rId30"/>
    <p:sldId id="606" r:id="rId31"/>
    <p:sldId id="608" r:id="rId32"/>
    <p:sldId id="609" r:id="rId33"/>
    <p:sldId id="611" r:id="rId34"/>
    <p:sldId id="610" r:id="rId35"/>
    <p:sldId id="615" r:id="rId36"/>
    <p:sldId id="616" r:id="rId37"/>
    <p:sldId id="617" r:id="rId38"/>
    <p:sldId id="618" r:id="rId39"/>
    <p:sldId id="619" r:id="rId40"/>
    <p:sldId id="620" r:id="rId41"/>
    <p:sldId id="621" r:id="rId42"/>
    <p:sldId id="622" r:id="rId43"/>
    <p:sldId id="623" r:id="rId44"/>
    <p:sldId id="624" r:id="rId45"/>
    <p:sldId id="626" r:id="rId46"/>
    <p:sldId id="628" r:id="rId47"/>
    <p:sldId id="629" r:id="rId48"/>
    <p:sldId id="630" r:id="rId49"/>
    <p:sldId id="631" r:id="rId50"/>
    <p:sldId id="632" r:id="rId51"/>
    <p:sldId id="633" r:id="rId52"/>
    <p:sldId id="634" r:id="rId53"/>
    <p:sldId id="635" r:id="rId54"/>
    <p:sldId id="636" r:id="rId55"/>
    <p:sldId id="649" r:id="rId56"/>
    <p:sldId id="638" r:id="rId57"/>
    <p:sldId id="651" r:id="rId58"/>
    <p:sldId id="639" r:id="rId59"/>
    <p:sldId id="650" r:id="rId60"/>
    <p:sldId id="641" r:id="rId61"/>
    <p:sldId id="642" r:id="rId62"/>
    <p:sldId id="643" r:id="rId63"/>
    <p:sldId id="644" r:id="rId64"/>
    <p:sldId id="645" r:id="rId65"/>
    <p:sldId id="646" r:id="rId66"/>
    <p:sldId id="647" r:id="rId67"/>
  </p:sldIdLst>
  <p:sldSz cx="9144000" cy="6858000" type="screen4x3"/>
  <p:notesSz cx="6858000" cy="9144000"/>
  <p:defaultTextStyle>
    <a:defPPr>
      <a:defRPr lang="sk-SK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04">
          <p15:clr>
            <a:srgbClr val="A4A3A4"/>
          </p15:clr>
        </p15:guide>
        <p15:guide id="2" pos="1247">
          <p15:clr>
            <a:srgbClr val="A4A3A4"/>
          </p15:clr>
        </p15:guide>
        <p15:guide id="3" orient="horz" pos="3929">
          <p15:clr>
            <a:srgbClr val="A4A3A4"/>
          </p15:clr>
        </p15:guide>
        <p15:guide id="4" pos="2833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isco Fernández Jorquera" initials="FFJ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0E"/>
    <a:srgbClr val="FFE4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15" autoAdjust="0"/>
    <p:restoredTop sz="86898" autoAdjust="0"/>
  </p:normalViewPr>
  <p:slideViewPr>
    <p:cSldViewPr>
      <p:cViewPr varScale="1">
        <p:scale>
          <a:sx n="98" d="100"/>
          <a:sy n="98" d="100"/>
        </p:scale>
        <p:origin x="-2376" y="-120"/>
      </p:cViewPr>
      <p:guideLst>
        <p:guide orient="horz" pos="2705"/>
        <p:guide orient="horz" pos="4065"/>
        <p:guide pos="3741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4" d="100"/>
          <a:sy n="64" d="100"/>
        </p:scale>
        <p:origin x="-344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interSettings" Target="printerSettings/printerSettings1.bin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commentAuthors" Target="commentAuthors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theme" Target="theme/theme1.xml"/><Relationship Id="rId74" Type="http://schemas.openxmlformats.org/officeDocument/2006/relationships/tableStyles" Target="tableStyles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cs typeface="Arial" charset="0"/>
              </a:defRPr>
            </a:lvl1pPr>
          </a:lstStyle>
          <a:p>
            <a:pPr>
              <a:defRPr/>
            </a:pPr>
            <a:fld id="{35A22A62-32FA-8840-8FCB-A837210EAC81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sk-S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sk-S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  <a:cs typeface="Arial" charset="0"/>
              </a:defRPr>
            </a:lvl1pPr>
          </a:lstStyle>
          <a:p>
            <a:pPr>
              <a:defRPr/>
            </a:pPr>
            <a:fld id="{5C0ACE6D-3A38-4949-BE5A-914E3BE078FE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920970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0ACE6D-3A38-4949-BE5A-914E3BE078FE}" type="slidenum">
              <a:rPr lang="sk-SK" smtClean="0"/>
              <a:pPr>
                <a:defRPr/>
              </a:pPr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19365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0ACE6D-3A38-4949-BE5A-914E3BE078FE}" type="slidenum">
              <a:rPr lang="sk-SK" smtClean="0"/>
              <a:pPr>
                <a:defRPr/>
              </a:pPr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19365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0ACE6D-3A38-4949-BE5A-914E3BE078FE}" type="slidenum">
              <a:rPr lang="sk-SK" smtClean="0"/>
              <a:pPr>
                <a:defRPr/>
              </a:pPr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19365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0ACE6D-3A38-4949-BE5A-914E3BE078FE}" type="slidenum">
              <a:rPr lang="sk-SK" smtClean="0"/>
              <a:pPr>
                <a:defRPr/>
              </a:pPr>
              <a:t>32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19365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46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47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48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49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59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60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61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62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63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64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BEBF4D-4B87-9B42-92FD-DEC35E646DEB}" type="slidenum">
              <a:rPr lang="sk-SK" smtClean="0"/>
              <a:pPr>
                <a:defRPr/>
              </a:pPr>
              <a:t>65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6948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B4EA0-F4AE-5542-8176-0466A49A7580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F0474-C4F6-2044-AB45-54BC394F24D6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9715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039C9-827D-7F42-BCFF-A99EEE48B1B0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143DD-04B4-8042-8627-3635DCA5C580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7881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D614D-68F1-F845-A9D2-27F98FF62E9F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B4BE8-689F-D940-8E47-7645D8AC15D1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16693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DAAF7-2653-7C41-861C-0BF57CC37813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37F1E-E317-D247-B4CD-1B664D8B1AAD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80458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CEC3E-A3B2-1446-BA32-C921A5F66C2D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2C30F-6B24-8247-93C0-2C3B01B17FB5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6402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127F5-2221-3A48-9416-BB0B5D9FC1E8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618DA-8499-624D-825A-F59ED0059954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1738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0A035-21E5-554A-9514-40C92B4C9604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12BA2-2673-0844-A303-818C031BA46C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8546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6" name="Rounded Rectangle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BE46B-23B1-DB44-9E0E-BC99B6F6A0A4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447C1-FA91-4144-B836-6A40933F7B85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3528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DFCE7-E3A9-FF4E-B793-BCFA5A753074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EA4042-C627-BA48-9654-FE6012955696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22758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7F961-DA6B-954E-ACDF-53CB7F483DDF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6F230-60DE-1644-BAFE-9D97B895ABFF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5482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0B9DF-B693-C64A-9A65-44ED6885B184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7542A5-EEC2-7F41-8095-4B7FD8FBF228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1206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Perpetua" charset="0"/>
                <a:cs typeface="Arial" charset="0"/>
              </a:defRPr>
            </a:lvl1pPr>
          </a:lstStyle>
          <a:p>
            <a:pPr>
              <a:defRPr/>
            </a:pPr>
            <a:fld id="{45D37A6E-88A8-CE4C-8FDC-963282B290BF}" type="datetimeFigureOut">
              <a:rPr lang="sk-SK"/>
              <a:pPr>
                <a:defRPr/>
              </a:pPr>
              <a:t>9/5/18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sk-SK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>
              <a:defRPr sz="1400">
                <a:solidFill>
                  <a:srgbClr val="FFFFFF"/>
                </a:solidFill>
                <a:latin typeface="Franklin Gothic Book" charset="0"/>
                <a:cs typeface="Arial" charset="0"/>
              </a:defRPr>
            </a:lvl1pPr>
          </a:lstStyle>
          <a:p>
            <a:pPr>
              <a:defRPr/>
            </a:pPr>
            <a:fld id="{D7F5DE9C-87A7-6A40-B86B-0FD897ED0B55}" type="slidenum">
              <a:rPr lang="sk-SK"/>
              <a:pPr>
                <a:defRPr/>
              </a:pPr>
              <a:t>‹#›</a:t>
            </a:fld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6" r:id="rId2"/>
    <p:sldLayoutId id="2147483744" r:id="rId3"/>
    <p:sldLayoutId id="2147483737" r:id="rId4"/>
    <p:sldLayoutId id="2147483738" r:id="rId5"/>
    <p:sldLayoutId id="2147483739" r:id="rId6"/>
    <p:sldLayoutId id="2147483740" r:id="rId7"/>
    <p:sldLayoutId id="2147483745" r:id="rId8"/>
    <p:sldLayoutId id="2147483746" r:id="rId9"/>
    <p:sldLayoutId id="2147483741" r:id="rId10"/>
    <p:sldLayoutId id="214748374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charset="0"/>
        <a:buChar char=""/>
        <a:defRPr sz="26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charset="0"/>
        <a:buChar char="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charset="0"/>
        <a:buChar char="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charset="0"/>
        <a:buChar char="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 txBox="1">
            <a:spLocks/>
          </p:cNvSpPr>
          <p:nvPr/>
        </p:nvSpPr>
        <p:spPr bwMode="auto">
          <a:xfrm>
            <a:off x="688032" y="2693987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bIns="91440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s-ES" sz="4000" dirty="0">
                <a:solidFill>
                  <a:schemeClr val="tx2"/>
                </a:solidFill>
                <a:latin typeface="Franklin Gothic Book" charset="0"/>
              </a:rPr>
              <a:t>Métodos Estadísticos</a:t>
            </a: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r>
              <a:rPr lang="es-ES" sz="4000" dirty="0">
                <a:solidFill>
                  <a:schemeClr val="tx2"/>
                </a:solidFill>
                <a:latin typeface="Franklin Gothic Book" charset="0"/>
              </a:rPr>
              <a:t>SILB 1513</a:t>
            </a: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r>
              <a:rPr lang="es-ES" dirty="0">
                <a:solidFill>
                  <a:schemeClr val="tx2"/>
                </a:solidFill>
                <a:latin typeface="Franklin Gothic Book" charset="0"/>
              </a:rPr>
              <a:t>Clase 6</a:t>
            </a:r>
            <a:endParaRPr lang="en-US" dirty="0">
              <a:solidFill>
                <a:schemeClr val="tx2"/>
              </a:solidFill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6862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3568" y="255786"/>
            <a:ext cx="7992888" cy="724942"/>
          </a:xfrm>
        </p:spPr>
        <p:txBody>
          <a:bodyPr>
            <a:noAutofit/>
          </a:bodyPr>
          <a:lstStyle/>
          <a:p>
            <a:pPr algn="ctr" eaLnBrk="1" hangingPunct="1"/>
            <a:r>
              <a:rPr lang="es-ES_tradnl" dirty="0" smtClean="0">
                <a:latin typeface="Franklin Gothic Book" charset="0"/>
              </a:rPr>
              <a:t>Clase 4:Distribución </a:t>
            </a:r>
            <a:r>
              <a:rPr lang="es-ES_tradnl" dirty="0">
                <a:latin typeface="Franklin Gothic Book" charset="0"/>
              </a:rPr>
              <a:t>de probabilidad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79712" y="1268760"/>
            <a:ext cx="52035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000" dirty="0">
                <a:latin typeface="Helvetica"/>
                <a:cs typeface="Helvetica"/>
              </a:rPr>
              <a:t>Variable aleatoria cuantitativa</a:t>
            </a:r>
          </a:p>
        </p:txBody>
      </p:sp>
      <p:sp>
        <p:nvSpPr>
          <p:cNvPr id="14" name="Left Brace 13"/>
          <p:cNvSpPr/>
          <p:nvPr/>
        </p:nvSpPr>
        <p:spPr>
          <a:xfrm rot="5400000">
            <a:off x="4355976" y="-747464"/>
            <a:ext cx="432048" cy="590465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27584" y="2617748"/>
            <a:ext cx="1501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>
                <a:latin typeface="Helvetica"/>
                <a:cs typeface="Helvetica"/>
              </a:rPr>
              <a:t>Discreta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4420" y="2545740"/>
            <a:ext cx="1641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>
                <a:latin typeface="Helvetica"/>
                <a:cs typeface="Helvetica"/>
              </a:rPr>
              <a:t>Contínua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520" y="3811687"/>
            <a:ext cx="27410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>
                <a:latin typeface="Helvetica"/>
                <a:cs typeface="Helvetica"/>
              </a:rPr>
              <a:t>Función de masa de </a:t>
            </a:r>
          </a:p>
          <a:p>
            <a:pPr algn="ctr"/>
            <a:r>
              <a:rPr lang="es-CL" sz="2200" dirty="0">
                <a:latin typeface="Helvetica"/>
                <a:cs typeface="Helvetica"/>
              </a:rPr>
              <a:t>probabilidad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4168" y="3790057"/>
            <a:ext cx="28041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>
                <a:latin typeface="Helvetica"/>
                <a:cs typeface="Helvetica"/>
              </a:rPr>
              <a:t>Función de densidad </a:t>
            </a:r>
          </a:p>
          <a:p>
            <a:pPr algn="ctr"/>
            <a:r>
              <a:rPr lang="es-CL" sz="2200" dirty="0">
                <a:latin typeface="Helvetica"/>
                <a:cs typeface="Helvetica"/>
              </a:rPr>
              <a:t>de probabilidad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859" y="5395863"/>
            <a:ext cx="30859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>
                <a:latin typeface="Helvetica"/>
                <a:cs typeface="Helvetica"/>
              </a:rPr>
              <a:t>Función de distribución </a:t>
            </a:r>
          </a:p>
          <a:p>
            <a:pPr algn="ctr"/>
            <a:r>
              <a:rPr lang="es-CL" sz="2200" dirty="0">
                <a:latin typeface="Helvetica"/>
                <a:cs typeface="Helvetica"/>
              </a:rPr>
              <a:t>acumulada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242" y="5373216"/>
            <a:ext cx="30859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>
                <a:latin typeface="Helvetica"/>
                <a:cs typeface="Helvetica"/>
              </a:rPr>
              <a:t>Función de distribución </a:t>
            </a:r>
          </a:p>
          <a:p>
            <a:pPr algn="ctr"/>
            <a:r>
              <a:rPr lang="es-CL" sz="2200" dirty="0">
                <a:latin typeface="Helvetica"/>
                <a:cs typeface="Helvetica"/>
              </a:rPr>
              <a:t>acumulada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1619672" y="3140968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521575" y="3141663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619672" y="4724449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521575" y="472514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830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23528" y="255786"/>
            <a:ext cx="8352928" cy="724942"/>
          </a:xfrm>
        </p:spPr>
        <p:txBody>
          <a:bodyPr>
            <a:noAutofit/>
          </a:bodyPr>
          <a:lstStyle/>
          <a:p>
            <a:pPr algn="ctr" eaLnBrk="1" hangingPunct="1"/>
            <a:r>
              <a:rPr lang="es-ES_tradnl" dirty="0" smtClean="0">
                <a:latin typeface="Franklin Gothic Book" charset="0"/>
              </a:rPr>
              <a:t>Clase 5: Distribución </a:t>
            </a:r>
            <a:r>
              <a:rPr lang="es-ES_tradnl" dirty="0">
                <a:latin typeface="Franklin Gothic Book" charset="0"/>
              </a:rPr>
              <a:t>de probabilidad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979712" y="1268760"/>
            <a:ext cx="52035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000" dirty="0">
                <a:latin typeface="Helvetica"/>
                <a:cs typeface="Helvetica"/>
              </a:rPr>
              <a:t>Variable aleatoria cuantitativa</a:t>
            </a:r>
          </a:p>
        </p:txBody>
      </p:sp>
      <p:sp>
        <p:nvSpPr>
          <p:cNvPr id="14" name="Left Brace 13"/>
          <p:cNvSpPr/>
          <p:nvPr/>
        </p:nvSpPr>
        <p:spPr>
          <a:xfrm rot="5400000">
            <a:off x="4355976" y="-747464"/>
            <a:ext cx="432048" cy="5904656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27584" y="2617748"/>
            <a:ext cx="1501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>
                <a:latin typeface="Helvetica"/>
                <a:cs typeface="Helvetica"/>
              </a:rPr>
              <a:t>Discreta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4420" y="2545740"/>
            <a:ext cx="1641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>
                <a:latin typeface="Helvetica"/>
                <a:cs typeface="Helvetica"/>
              </a:rPr>
              <a:t>Contínua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520" y="3811687"/>
            <a:ext cx="27410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 smtClean="0">
                <a:latin typeface="Helvetica"/>
                <a:cs typeface="Helvetica"/>
              </a:rPr>
              <a:t>Función de masa de </a:t>
            </a:r>
          </a:p>
          <a:p>
            <a:pPr algn="ctr"/>
            <a:r>
              <a:rPr lang="en-US" sz="2200" dirty="0" smtClean="0">
                <a:latin typeface="Helvetica"/>
                <a:cs typeface="Helvetica"/>
              </a:rPr>
              <a:t>P</a:t>
            </a:r>
            <a:r>
              <a:rPr lang="es-CL" sz="2200" dirty="0" smtClean="0">
                <a:latin typeface="Helvetica"/>
                <a:cs typeface="Helvetica"/>
              </a:rPr>
              <a:t>robabilidad </a:t>
            </a:r>
            <a:endParaRPr lang="es-CL" sz="2200" dirty="0">
              <a:latin typeface="Helvetica"/>
              <a:cs typeface="Helvetic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84168" y="3790057"/>
            <a:ext cx="28041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 smtClean="0">
                <a:latin typeface="Helvetica"/>
                <a:cs typeface="Helvetica"/>
              </a:rPr>
              <a:t>Función de densidad </a:t>
            </a:r>
          </a:p>
          <a:p>
            <a:pPr algn="ctr"/>
            <a:r>
              <a:rPr lang="es-CL" sz="2200" dirty="0" smtClean="0">
                <a:latin typeface="Helvetica"/>
                <a:cs typeface="Helvetica"/>
              </a:rPr>
              <a:t>de probabilidad</a:t>
            </a:r>
            <a:endParaRPr lang="es-CL" sz="2200" dirty="0">
              <a:latin typeface="Helvetica"/>
              <a:cs typeface="Helvetic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828" y="5395863"/>
            <a:ext cx="30700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 smtClean="0">
                <a:latin typeface="Helvetica"/>
                <a:cs typeface="Helvetica"/>
              </a:rPr>
              <a:t>Esperanza matemática </a:t>
            </a:r>
          </a:p>
          <a:p>
            <a:pPr algn="ctr"/>
            <a:r>
              <a:rPr lang="es-CL" sz="2200" dirty="0" smtClean="0">
                <a:latin typeface="Helvetica"/>
                <a:cs typeface="Helvetica"/>
              </a:rPr>
              <a:t>y Varianza</a:t>
            </a:r>
            <a:endParaRPr lang="es-CL" sz="2200" dirty="0">
              <a:latin typeface="Helvetica"/>
              <a:cs typeface="Helvetic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242" y="5373216"/>
            <a:ext cx="308598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200" dirty="0">
                <a:latin typeface="Helvetica"/>
                <a:cs typeface="Helvetica"/>
              </a:rPr>
              <a:t>Esperanza matemática </a:t>
            </a:r>
          </a:p>
          <a:p>
            <a:pPr algn="ctr"/>
            <a:r>
              <a:rPr lang="es-CL" sz="2200" dirty="0">
                <a:latin typeface="Helvetica"/>
                <a:cs typeface="Helvetica"/>
              </a:rPr>
              <a:t>y Varianza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1619672" y="3140968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521575" y="3141663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1619672" y="4724449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521575" y="472514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2444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Recordemos</a:t>
            </a:r>
            <a:endParaRPr lang="sk-SK" dirty="0">
              <a:latin typeface="Franklin Gothic Book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323850" y="980157"/>
            <a:ext cx="4464050" cy="4319588"/>
          </a:xfrm>
          <a:prstGeom prst="ellipse">
            <a:avLst/>
          </a:prstGeom>
          <a:solidFill>
            <a:schemeClr val="bg1">
              <a:lumMod val="75000"/>
              <a:alpha val="64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 smtClean="0">
                <a:solidFill>
                  <a:schemeClr val="tx1"/>
                </a:solidFill>
                <a:latin typeface="Helvetica"/>
                <a:cs typeface="Helvetica"/>
              </a:rPr>
              <a:t>Población</a:t>
            </a:r>
            <a:endParaRPr lang="en-US" dirty="0" smtClean="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>
              <a:defRPr/>
            </a:pPr>
            <a:r>
              <a:rPr lang="en-US" sz="2800" dirty="0" err="1" smtClean="0">
                <a:solidFill>
                  <a:schemeClr val="tx1"/>
                </a:solidFill>
                <a:latin typeface="Helvetica"/>
                <a:cs typeface="Helvetica"/>
              </a:rPr>
              <a:t>Parámetro</a:t>
            </a:r>
            <a:endParaRPr lang="en-US" sz="28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7" name="Oval 6"/>
          <p:cNvSpPr/>
          <p:nvPr/>
        </p:nvSpPr>
        <p:spPr>
          <a:xfrm>
            <a:off x="6732240" y="2420020"/>
            <a:ext cx="2232248" cy="1512887"/>
          </a:xfrm>
          <a:prstGeom prst="ellipse">
            <a:avLst/>
          </a:prstGeom>
          <a:solidFill>
            <a:schemeClr val="bg1">
              <a:lumMod val="75000"/>
              <a:alpha val="64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 smtClean="0">
                <a:solidFill>
                  <a:srgbClr val="000000"/>
                </a:solidFill>
                <a:latin typeface="Helvetica"/>
                <a:cs typeface="Helvetica"/>
              </a:rPr>
              <a:t>Muestra</a:t>
            </a:r>
            <a:endParaRPr lang="en-US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algn="ctr">
              <a:defRPr/>
            </a:pPr>
            <a:r>
              <a:rPr lang="en-US" sz="2200" dirty="0" err="1" smtClean="0">
                <a:solidFill>
                  <a:srgbClr val="000000"/>
                </a:solidFill>
                <a:latin typeface="Helvetica"/>
                <a:cs typeface="Helvetica"/>
              </a:rPr>
              <a:t>Estadístico</a:t>
            </a:r>
            <a:endParaRPr lang="en-US" sz="22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pic>
        <p:nvPicPr>
          <p:cNvPr id="18436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226220"/>
            <a:ext cx="3221037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500563" y="3747170"/>
            <a:ext cx="3221037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Box 5"/>
          <p:cNvSpPr txBox="1">
            <a:spLocks noChangeArrowheads="1"/>
          </p:cNvSpPr>
          <p:nvPr/>
        </p:nvSpPr>
        <p:spPr bwMode="auto">
          <a:xfrm>
            <a:off x="5436096" y="1732746"/>
            <a:ext cx="13163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 dirty="0">
                <a:latin typeface="Helvetica"/>
                <a:cs typeface="Helvetica"/>
              </a:rPr>
              <a:t>Muestreo</a:t>
            </a:r>
          </a:p>
        </p:txBody>
      </p:sp>
      <p:sp>
        <p:nvSpPr>
          <p:cNvPr id="18439" name="TextBox 11"/>
          <p:cNvSpPr txBox="1">
            <a:spLocks noChangeArrowheads="1"/>
          </p:cNvSpPr>
          <p:nvPr/>
        </p:nvSpPr>
        <p:spPr bwMode="auto">
          <a:xfrm>
            <a:off x="5652120" y="4149080"/>
            <a:ext cx="13735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 dirty="0" err="1">
                <a:latin typeface="Helvetica"/>
                <a:cs typeface="Helvetica"/>
              </a:rPr>
              <a:t>Inferencia</a:t>
            </a:r>
            <a:endParaRPr lang="en-US" sz="2000" i="1" dirty="0">
              <a:latin typeface="Helvetica"/>
              <a:cs typeface="Helvetic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1560" y="6084584"/>
            <a:ext cx="3960440" cy="58477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>
                <a:latin typeface="Helvetica"/>
                <a:cs typeface="Helvetica"/>
              </a:rPr>
              <a:t>Conjunto de todos los datos específicos de interés para el investigador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555776" y="5301208"/>
            <a:ext cx="0" cy="720080"/>
          </a:xfrm>
          <a:prstGeom prst="straightConnector1">
            <a:avLst/>
          </a:prstGeom>
          <a:ln w="38100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44208" y="5661248"/>
            <a:ext cx="2448272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>
                <a:latin typeface="Helvetica"/>
                <a:cs typeface="Helvetica"/>
              </a:rPr>
              <a:t>Subconjunto de datos específicos elegidos de la población de interés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028384" y="4040719"/>
            <a:ext cx="0" cy="1548521"/>
          </a:xfrm>
          <a:prstGeom prst="straightConnector1">
            <a:avLst/>
          </a:prstGeom>
          <a:ln w="38100" cmpd="sng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2669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69269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200" b="1" dirty="0" smtClean="0">
                <a:latin typeface="Helvetica"/>
                <a:cs typeface="Helvetica"/>
              </a:rPr>
              <a:t>Parámetro</a:t>
            </a:r>
            <a:r>
              <a:rPr lang="es-ES_tradnl" sz="2200" dirty="0">
                <a:latin typeface="Helvetica"/>
                <a:cs typeface="Helvetica"/>
              </a:rPr>
              <a:t>: Son las medidas o características descriptivas inherentes a las poblaciones. </a:t>
            </a:r>
            <a:r>
              <a:rPr lang="es-ES_tradnl" sz="2200" dirty="0" smtClean="0">
                <a:latin typeface="Helvetica"/>
                <a:cs typeface="Helvetica"/>
              </a:rPr>
              <a:t>Resume </a:t>
            </a:r>
            <a:r>
              <a:rPr lang="es-ES_tradnl" sz="2200" dirty="0">
                <a:latin typeface="Helvetica"/>
                <a:cs typeface="Helvetica"/>
              </a:rPr>
              <a:t>los valores </a:t>
            </a:r>
            <a:r>
              <a:rPr lang="es-ES_tradnl" sz="2200" dirty="0" smtClean="0">
                <a:latin typeface="Helvetica"/>
                <a:cs typeface="Helvetica"/>
              </a:rPr>
              <a:t>de algún atributo (variables) de la población.</a:t>
            </a: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2200" dirty="0" smtClean="0">
                <a:latin typeface="Helvetica"/>
                <a:cs typeface="Helvetica"/>
              </a:rPr>
              <a:t>      Es un valor único.</a:t>
            </a: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200" b="1" dirty="0" smtClean="0">
                <a:latin typeface="Helvetica"/>
                <a:cs typeface="Helvetica"/>
              </a:rPr>
              <a:t>Estadístico</a:t>
            </a:r>
            <a:r>
              <a:rPr lang="es-ES_tradnl" sz="2200" dirty="0" smtClean="0">
                <a:latin typeface="Helvetica"/>
                <a:cs typeface="Helvetica"/>
              </a:rPr>
              <a:t>: </a:t>
            </a:r>
            <a:r>
              <a:rPr lang="es-ES_tradnl" sz="2200" dirty="0">
                <a:latin typeface="Helvetica"/>
                <a:cs typeface="Helvetica"/>
              </a:rPr>
              <a:t>Son las medidas descriptivas inherentes a una muestra, las cuales pueden usarse como estimación del parámetro. </a:t>
            </a: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2200" dirty="0" smtClean="0">
                <a:latin typeface="Helvetica"/>
                <a:cs typeface="Helvetica"/>
              </a:rPr>
              <a:t>      No tiene un valor único, varía de una muestra a otra (</a:t>
            </a:r>
            <a:r>
              <a:rPr lang="es-ES_tradnl" sz="2200" i="1" dirty="0" smtClean="0">
                <a:latin typeface="Helvetica"/>
                <a:cs typeface="Helvetica"/>
              </a:rPr>
              <a:t>¿recuerdan    	el concepto representativo?</a:t>
            </a:r>
            <a:r>
              <a:rPr lang="es-ES_tradnl" sz="2200" dirty="0" smtClean="0">
                <a:latin typeface="Helvetica"/>
                <a:cs typeface="Helvetica"/>
              </a:rPr>
              <a:t>)</a:t>
            </a: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44624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Parámetros vs Estadísticos</a:t>
            </a:r>
            <a:endParaRPr lang="es-ES_tradnl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5958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 txBox="1">
            <a:spLocks/>
          </p:cNvSpPr>
          <p:nvPr/>
        </p:nvSpPr>
        <p:spPr bwMode="auto">
          <a:xfrm>
            <a:off x="688032" y="2693987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bIns="91440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s-ES" sz="5000" dirty="0" smtClean="0">
                <a:solidFill>
                  <a:schemeClr val="tx2"/>
                </a:solidFill>
                <a:latin typeface="Franklin Gothic Book" charset="0"/>
              </a:rPr>
              <a:t>Teorema del límite central</a:t>
            </a:r>
            <a:endParaRPr lang="es-ES" sz="5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5767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200" b="1" dirty="0" err="1" smtClean="0">
                <a:latin typeface="Helvetica"/>
                <a:cs typeface="Helvetica"/>
              </a:rPr>
              <a:t>Definción</a:t>
            </a:r>
            <a:r>
              <a:rPr lang="es-ES_tradnl" sz="2200" dirty="0" smtClean="0">
                <a:latin typeface="Helvetica"/>
                <a:cs typeface="Helvetica"/>
              </a:rPr>
              <a:t>: Si tomamos muestras de tamaño “n” en un población y calculamos el promedio de cada una de las muestras, no importa la forma de la distribución original de la población, la distribución de promedios seguirá una distribución normal.</a:t>
            </a: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Teorema de límite central</a:t>
            </a:r>
            <a:endParaRPr lang="es-ES_tradnl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536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 smtClean="0">
                <a:latin typeface="Helvetica"/>
                <a:cs typeface="Helvetica"/>
              </a:rPr>
              <a:t>Ejemplo</a:t>
            </a:r>
            <a:r>
              <a:rPr lang="es-ES_tradnl" sz="2000" dirty="0" smtClean="0">
                <a:latin typeface="Helvetica"/>
                <a:cs typeface="Helvetica"/>
              </a:rPr>
              <a:t>: Los </a:t>
            </a:r>
            <a:r>
              <a:rPr lang="es-ES_tradnl" sz="2000" dirty="0">
                <a:latin typeface="Helvetica"/>
                <a:cs typeface="Helvetica"/>
              </a:rPr>
              <a:t>resultados del lanzamiento de dados siguen una distribución uniforme. Cada uno de los números del 1 al 6 tiene a misma probabilidad de “salir</a:t>
            </a:r>
            <a:r>
              <a:rPr lang="es-ES_tradnl" sz="2000" dirty="0" smtClean="0">
                <a:latin typeface="Helvetica"/>
                <a:cs typeface="Helvetica"/>
              </a:rPr>
              <a:t>”.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 La </a:t>
            </a:r>
            <a:r>
              <a:rPr lang="es-ES_tradnl" sz="2000" dirty="0">
                <a:latin typeface="Helvetica"/>
                <a:cs typeface="Helvetica"/>
              </a:rPr>
              <a:t>distribución luce así: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Teorema de límite central</a:t>
            </a:r>
            <a:endParaRPr lang="es-ES_tradnl" dirty="0">
              <a:latin typeface="Franklin Gothic Book" charset="0"/>
            </a:endParaRPr>
          </a:p>
        </p:txBody>
      </p:sp>
      <p:pic>
        <p:nvPicPr>
          <p:cNvPr id="5" name="Picture 4" descr="Screen Shot 2018-09-04 at 10.10.2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140968"/>
            <a:ext cx="8885513" cy="864096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2828420" y="4180651"/>
            <a:ext cx="2607676" cy="2488709"/>
            <a:chOff x="2828420" y="3933056"/>
            <a:chExt cx="2607676" cy="2488709"/>
          </a:xfrm>
        </p:grpSpPr>
        <p:pic>
          <p:nvPicPr>
            <p:cNvPr id="4" name="Picture 3" descr="Screen Shot 2018-09-04 at 10.08.50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2349" y="4000885"/>
              <a:ext cx="1830078" cy="2164419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 rot="16200000">
              <a:off x="2223181" y="4799203"/>
              <a:ext cx="16105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2000" dirty="0" smtClean="0">
                  <a:latin typeface="Helvetica"/>
                  <a:cs typeface="Helvetica"/>
                </a:rPr>
                <a:t>Probabilidad</a:t>
              </a:r>
              <a:endParaRPr lang="es-CL" sz="2000" dirty="0">
                <a:latin typeface="Helvetica"/>
                <a:cs typeface="Helvetica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65996" y="3933056"/>
              <a:ext cx="4699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Helvetica"/>
                  <a:cs typeface="Helvetica"/>
                </a:rPr>
                <a:t>1/6</a:t>
              </a:r>
              <a:endParaRPr lang="en-US" sz="1600" dirty="0">
                <a:latin typeface="Helvetica"/>
                <a:cs typeface="Helvetic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30448" y="6068011"/>
              <a:ext cx="29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Helvetica"/>
                  <a:cs typeface="Helvetica"/>
                </a:rPr>
                <a:t>1</a:t>
              </a:r>
              <a:endParaRPr lang="en-US" sz="1600" dirty="0">
                <a:latin typeface="Helvetica"/>
                <a:cs typeface="Helvetic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23928" y="6068011"/>
              <a:ext cx="300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788024" y="6068011"/>
              <a:ext cx="300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97388" y="6068011"/>
              <a:ext cx="29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Helvetica"/>
                  <a:cs typeface="Helvetica"/>
                </a:rPr>
                <a:t>4</a:t>
              </a:r>
              <a:endParaRPr lang="en-US" sz="1600" dirty="0">
                <a:latin typeface="Helvetica"/>
                <a:cs typeface="Helvetic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76056" y="6077478"/>
              <a:ext cx="360040" cy="344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Helvetica"/>
                  <a:cs typeface="Helvetica"/>
                </a:rPr>
                <a:t>6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98608" y="6068011"/>
              <a:ext cx="298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Helvetica"/>
                  <a:cs typeface="Helvetica"/>
                </a:rPr>
                <a:t>3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6732240" y="4254187"/>
            <a:ext cx="230425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2400" dirty="0" smtClean="0">
                <a:solidFill>
                  <a:srgbClr val="FF0000"/>
                </a:solidFill>
                <a:latin typeface="Helvetica"/>
                <a:cs typeface="Helvetica"/>
              </a:rPr>
              <a:t>Distribución </a:t>
            </a:r>
          </a:p>
          <a:p>
            <a:pPr algn="ctr"/>
            <a:r>
              <a:rPr lang="es-ES_tradnl" sz="2400" dirty="0" smtClean="0">
                <a:solidFill>
                  <a:srgbClr val="FF0000"/>
                </a:solidFill>
                <a:latin typeface="Helvetica"/>
                <a:cs typeface="Helvetica"/>
              </a:rPr>
              <a:t>uniforme</a:t>
            </a:r>
            <a:endParaRPr lang="es-CL" sz="24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5652120" y="4785563"/>
            <a:ext cx="1368152" cy="601573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355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 smtClean="0">
                <a:latin typeface="Helvetica"/>
                <a:cs typeface="Helvetica"/>
              </a:rPr>
              <a:t>Ejemplo</a:t>
            </a:r>
            <a:r>
              <a:rPr lang="es-ES_tradnl" sz="2000" dirty="0" smtClean="0">
                <a:latin typeface="Helvetica"/>
                <a:cs typeface="Helvetica"/>
              </a:rPr>
              <a:t>: Los </a:t>
            </a:r>
            <a:r>
              <a:rPr lang="es-ES_tradnl" sz="2000" dirty="0">
                <a:latin typeface="Helvetica"/>
                <a:cs typeface="Helvetica"/>
              </a:rPr>
              <a:t>resultados del lanzamiento de dados siguen una distribución uniforme. Cada uno de los números del 1 al 6 tiene a misma probabilidad de “salir</a:t>
            </a:r>
            <a:r>
              <a:rPr lang="es-ES_tradnl" sz="2000" dirty="0" smtClean="0">
                <a:latin typeface="Helvetica"/>
                <a:cs typeface="Helvetica"/>
              </a:rPr>
              <a:t>”.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Veamos que pasa cuando lanzamos un dado un par de miles de veces (simulación):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Teorema de límite central</a:t>
            </a:r>
            <a:endParaRPr lang="es-ES_tradnl" dirty="0">
              <a:latin typeface="Franklin Gothic Book" charset="0"/>
            </a:endParaRPr>
          </a:p>
        </p:txBody>
      </p:sp>
      <p:pic>
        <p:nvPicPr>
          <p:cNvPr id="3" name="Picture 2" descr="Screen Shot 2018-09-04 at 10.22.1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371" y="3361341"/>
            <a:ext cx="4449655" cy="338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19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 smtClean="0">
                <a:latin typeface="Helvetica"/>
                <a:cs typeface="Helvetica"/>
              </a:rPr>
              <a:t>Ejemplo</a:t>
            </a:r>
            <a:r>
              <a:rPr lang="es-ES_tradnl" sz="2000" dirty="0" smtClean="0">
                <a:latin typeface="Helvetica"/>
                <a:cs typeface="Helvetica"/>
              </a:rPr>
              <a:t>: Ahora, hagamos algo diferente. Lancemos el dado 10 veces al azar y sacamos el promedio de los 10 lanzamientos.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Teorema de límite central</a:t>
            </a:r>
            <a:endParaRPr lang="es-ES_tradnl" dirty="0">
              <a:latin typeface="Franklin Gothic Book" charset="0"/>
            </a:endParaRPr>
          </a:p>
        </p:txBody>
      </p:sp>
      <p:pic>
        <p:nvPicPr>
          <p:cNvPr id="2" name="Picture 1" descr="Screen Shot 2018-09-04 at 10.25.0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5" y="2492896"/>
            <a:ext cx="2768600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01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 smtClean="0">
                <a:latin typeface="Helvetica"/>
                <a:cs typeface="Helvetica"/>
              </a:rPr>
              <a:t>Ejemplo</a:t>
            </a:r>
            <a:r>
              <a:rPr lang="es-ES_tradnl" sz="2000" dirty="0">
                <a:latin typeface="Helvetica"/>
                <a:cs typeface="Helvetica"/>
              </a:rPr>
              <a:t>: ¿Y qué pasa si hacemos lo mismo una gran cantidad de veces, digamos 1,500, y luego hacemos el histograma de los 1,500 promedios?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Teorema de límite central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 descr="Screen Shot 2018-09-04 at 10.30.4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592288"/>
            <a:ext cx="8278872" cy="4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69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 smtClean="0">
                <a:latin typeface="Helvetica"/>
                <a:cs typeface="Helvetica"/>
              </a:rPr>
              <a:t>Ejemplo</a:t>
            </a:r>
            <a:r>
              <a:rPr lang="es-ES_tradnl" sz="2000" dirty="0" smtClean="0">
                <a:latin typeface="Helvetica"/>
                <a:cs typeface="Helvetica"/>
              </a:rPr>
              <a:t>: Según </a:t>
            </a:r>
            <a:r>
              <a:rPr lang="es-ES_tradnl" sz="2000" dirty="0">
                <a:latin typeface="Helvetica"/>
                <a:cs typeface="Helvetica"/>
              </a:rPr>
              <a:t>el Teorema del Límite Central el histograma debería parecerse </a:t>
            </a:r>
            <a:r>
              <a:rPr lang="es-ES_tradnl" sz="2000" dirty="0" smtClean="0">
                <a:latin typeface="Helvetica"/>
                <a:cs typeface="Helvetica"/>
              </a:rPr>
              <a:t>a</a:t>
            </a:r>
            <a:r>
              <a:rPr lang="mr-IN" sz="2000" dirty="0" smtClean="0">
                <a:latin typeface="Helvetica"/>
                <a:cs typeface="Helvetica"/>
              </a:rPr>
              <a:t>…</a:t>
            </a:r>
            <a:r>
              <a:rPr lang="es-ES_tradnl" sz="2000" dirty="0" smtClean="0">
                <a:latin typeface="Helvetica"/>
                <a:cs typeface="Helvetica"/>
              </a:rPr>
              <a:t>.</a:t>
            </a:r>
            <a:endParaRPr lang="es-ES_tradnl" sz="20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Teorema de límite central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Screen Shot 2018-09-04 at 10.32.1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2543307"/>
            <a:ext cx="4176464" cy="331533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32240" y="2670011"/>
            <a:ext cx="230425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sz="2400" dirty="0" smtClean="0">
                <a:solidFill>
                  <a:srgbClr val="FF0000"/>
                </a:solidFill>
                <a:latin typeface="Helvetica"/>
                <a:cs typeface="Helvetica"/>
              </a:rPr>
              <a:t>Distribución </a:t>
            </a:r>
          </a:p>
          <a:p>
            <a:pPr algn="ctr"/>
            <a:r>
              <a:rPr lang="es-ES_tradnl" sz="2400" dirty="0" smtClean="0">
                <a:solidFill>
                  <a:srgbClr val="FF0000"/>
                </a:solidFill>
                <a:latin typeface="Helvetica"/>
                <a:cs typeface="Helvetica"/>
              </a:rPr>
              <a:t>normal</a:t>
            </a:r>
            <a:endParaRPr lang="es-CL" sz="24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012160" y="3429000"/>
            <a:ext cx="1152128" cy="961614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7504" y="5805264"/>
            <a:ext cx="9001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L" sz="2000" dirty="0" smtClean="0">
                <a:latin typeface="Helvetica"/>
                <a:cs typeface="Helvetica"/>
              </a:rPr>
              <a:t>La distribución original de los datos puede ser lo que quiera ser, pero el histograma de los promedios de muestras de tamaño n siempre será normal.</a:t>
            </a:r>
            <a:endParaRPr lang="es-CL" sz="20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71992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 txBox="1">
            <a:spLocks/>
          </p:cNvSpPr>
          <p:nvPr/>
        </p:nvSpPr>
        <p:spPr bwMode="auto">
          <a:xfrm>
            <a:off x="688032" y="2693987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bIns="91440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s-ES" sz="5000" dirty="0" smtClean="0">
                <a:solidFill>
                  <a:schemeClr val="tx2"/>
                </a:solidFill>
                <a:latin typeface="Franklin Gothic Book" charset="0"/>
              </a:rPr>
              <a:t>Distribución normal</a:t>
            </a:r>
            <a:endParaRPr lang="es-ES" sz="5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665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>
                <a:latin typeface="Helvetica"/>
                <a:cs typeface="Helvetica"/>
              </a:rPr>
              <a:t>La distribución normal, también conocida como la distribución Gaussiana, es una distribución de probabilidad que es simétrica con respecto a la </a:t>
            </a:r>
            <a:r>
              <a:rPr lang="es-ES_tradnl" sz="2000" dirty="0" smtClean="0">
                <a:latin typeface="Helvetica"/>
                <a:cs typeface="Helvetica"/>
              </a:rPr>
              <a:t>media.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Los datos en torno a la media son más frecuentes en comparación  a los que están alejados de la media.</a:t>
            </a:r>
            <a:endParaRPr lang="es-ES_tradnl" sz="2000" dirty="0">
              <a:latin typeface="Helvetica"/>
              <a:cs typeface="Helvetica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933056"/>
            <a:ext cx="3308825" cy="2579762"/>
          </a:xfrm>
          <a:prstGeom prst="rect">
            <a:avLst/>
          </a:prstGeom>
        </p:spPr>
      </p:pic>
      <p:pic>
        <p:nvPicPr>
          <p:cNvPr id="29" name="Picture 28" descr="Screen Shot 2018-09-04 at 4.36.5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4365104"/>
            <a:ext cx="3759500" cy="220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82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540568" y="1052736"/>
            <a:ext cx="9289032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Permite modelar un gran número fenómenos naturales (las características </a:t>
            </a:r>
            <a:r>
              <a:rPr lang="es-ES_tradnl" sz="2000" dirty="0">
                <a:latin typeface="Helvetica"/>
                <a:cs typeface="Helvetica"/>
              </a:rPr>
              <a:t>cuantitativas de casi todas las grandes poblaciones). </a:t>
            </a: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Por </a:t>
            </a:r>
            <a:r>
              <a:rPr lang="es-ES_tradnl" sz="2000" dirty="0">
                <a:latin typeface="Helvetica"/>
                <a:cs typeface="Helvetica"/>
              </a:rPr>
              <a:t>otro lado, </a:t>
            </a:r>
            <a:r>
              <a:rPr lang="es-ES_tradnl" sz="2000" dirty="0" smtClean="0">
                <a:latin typeface="Helvetica"/>
                <a:cs typeface="Helvetica"/>
              </a:rPr>
              <a:t>en </a:t>
            </a:r>
            <a:r>
              <a:rPr lang="es-ES_tradnl" sz="2000" dirty="0">
                <a:latin typeface="Helvetica"/>
                <a:cs typeface="Helvetica"/>
              </a:rPr>
              <a:t>virtud del t</a:t>
            </a:r>
            <a:r>
              <a:rPr lang="es-ES_tradnl" sz="2000" dirty="0" smtClean="0">
                <a:latin typeface="Helvetica"/>
                <a:cs typeface="Helvetica"/>
              </a:rPr>
              <a:t>eorema del límite central</a:t>
            </a:r>
            <a:r>
              <a:rPr lang="es-ES_tradnl" sz="2000" dirty="0">
                <a:latin typeface="Helvetica"/>
                <a:cs typeface="Helvetica"/>
              </a:rPr>
              <a:t>, casi cualquier distribución de probabilidad, tanto discreta como continua, se puede aproximar </a:t>
            </a:r>
            <a:r>
              <a:rPr lang="es-ES_tradnl" sz="2000" dirty="0" smtClean="0">
                <a:latin typeface="Helvetica"/>
                <a:cs typeface="Helvetica"/>
              </a:rPr>
              <a:t>a </a:t>
            </a:r>
            <a:r>
              <a:rPr lang="es-ES_tradnl" sz="2000" dirty="0">
                <a:latin typeface="Helvetica"/>
                <a:cs typeface="Helvetica"/>
              </a:rPr>
              <a:t>una normal bajo ciertas </a:t>
            </a:r>
            <a:r>
              <a:rPr lang="es-ES_tradnl" sz="2000" dirty="0" smtClean="0">
                <a:latin typeface="Helvetica"/>
                <a:cs typeface="Helvetica"/>
              </a:rPr>
              <a:t>condiciones.</a:t>
            </a: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96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24544" y="1052736"/>
            <a:ext cx="9289032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1900" dirty="0">
                <a:latin typeface="Helvetica"/>
                <a:cs typeface="Helvetica"/>
              </a:rPr>
              <a:t>Una variable aleatoria continua, X, sigue una distribución normal de media μ y desviación típica </a:t>
            </a:r>
            <a:r>
              <a:rPr lang="es-ES_tradnl" sz="1900" dirty="0" err="1">
                <a:latin typeface="Helvetica"/>
                <a:cs typeface="Helvetica"/>
              </a:rPr>
              <a:t>σ</a:t>
            </a:r>
            <a:r>
              <a:rPr lang="es-ES_tradnl" sz="1900" dirty="0">
                <a:latin typeface="Helvetica"/>
                <a:cs typeface="Helvetica"/>
              </a:rPr>
              <a:t>, y se designa por N(μ, </a:t>
            </a:r>
            <a:r>
              <a:rPr lang="es-ES_tradnl" sz="1900" dirty="0" err="1">
                <a:latin typeface="Helvetica"/>
                <a:cs typeface="Helvetica"/>
              </a:rPr>
              <a:t>σ</a:t>
            </a:r>
            <a:r>
              <a:rPr lang="es-ES_tradnl" sz="1900" dirty="0">
                <a:latin typeface="Helvetica"/>
                <a:cs typeface="Helvetica"/>
              </a:rPr>
              <a:t>), si se cumplen las siguientes condiciones</a:t>
            </a:r>
            <a:r>
              <a:rPr lang="es-ES_tradnl" sz="1900" dirty="0" smtClean="0">
                <a:latin typeface="Helvetica"/>
                <a:cs typeface="Helvetica"/>
              </a:rPr>
              <a:t>: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AutoNum type="arabicPeriod"/>
            </a:pPr>
            <a:r>
              <a:rPr lang="es-ES_tradnl" sz="1900" dirty="0" smtClean="0">
                <a:latin typeface="Helvetica"/>
                <a:cs typeface="Helvetica"/>
              </a:rPr>
              <a:t>La </a:t>
            </a:r>
            <a:r>
              <a:rPr lang="es-ES_tradnl" sz="1900" dirty="0">
                <a:latin typeface="Helvetica"/>
                <a:cs typeface="Helvetica"/>
              </a:rPr>
              <a:t>variable puede tomar cualquier valor: (-∞, +∞</a:t>
            </a:r>
            <a:r>
              <a:rPr lang="es-ES_tradnl" sz="1900" dirty="0" smtClean="0">
                <a:latin typeface="Helvetica"/>
                <a:cs typeface="Helvetica"/>
              </a:rPr>
              <a:t>) y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AutoNum type="arabicPeriod"/>
            </a:pPr>
            <a:r>
              <a:rPr lang="es-ES_tradnl" sz="1900" dirty="0">
                <a:latin typeface="Helvetica"/>
                <a:cs typeface="Helvetica"/>
              </a:rPr>
              <a:t> </a:t>
            </a:r>
            <a:r>
              <a:rPr lang="es-ES_tradnl" sz="1900" dirty="0" smtClean="0">
                <a:latin typeface="Helvetica"/>
                <a:cs typeface="Helvetica"/>
              </a:rPr>
              <a:t>La función de densidad:</a:t>
            </a:r>
            <a:endParaRPr lang="es-ES_tradnl" sz="19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900" dirty="0">
              <a:latin typeface="Helvetica"/>
              <a:cs typeface="Helvetica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3" name="Picture 22" descr="Screen Shot 2018-09-04 at 2.42.3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365104"/>
            <a:ext cx="4927600" cy="2171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34148" y="6309320"/>
            <a:ext cx="10823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CL" dirty="0" smtClean="0">
                <a:latin typeface="Helvetica"/>
                <a:cs typeface="Helvetica"/>
              </a:rPr>
              <a:t>Varianza</a:t>
            </a:r>
            <a:endParaRPr lang="es-CL" dirty="0">
              <a:latin typeface="Helvetica"/>
              <a:cs typeface="Helvetic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41860" y="4365104"/>
            <a:ext cx="20162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Helvetica"/>
                <a:cs typeface="Helvetica"/>
              </a:rPr>
              <a:t>V</a:t>
            </a:r>
            <a:r>
              <a:rPr lang="es-ES_tradnl" dirty="0" err="1" smtClean="0">
                <a:latin typeface="Helvetica"/>
                <a:cs typeface="Helvetica"/>
              </a:rPr>
              <a:t>alor</a:t>
            </a:r>
            <a:r>
              <a:rPr lang="es-ES_tradnl" dirty="0" smtClean="0">
                <a:latin typeface="Helvetica"/>
                <a:cs typeface="Helvetica"/>
              </a:rPr>
              <a:t> de x</a:t>
            </a:r>
            <a:endParaRPr lang="es-CL" dirty="0" smtClean="0">
              <a:latin typeface="Helvetica"/>
              <a:cs typeface="Helvetica"/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5598244" y="4869160"/>
            <a:ext cx="648072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90332" y="5013176"/>
            <a:ext cx="182720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Helvetica"/>
                <a:cs typeface="Helvetica"/>
              </a:rPr>
              <a:t>Esperanza de X </a:t>
            </a:r>
          </a:p>
          <a:p>
            <a:pPr algn="ctr"/>
            <a:r>
              <a:rPr lang="en-US" dirty="0" smtClean="0">
                <a:latin typeface="Helvetica"/>
                <a:cs typeface="Helvetica"/>
              </a:rPr>
              <a:t>o m</a:t>
            </a:r>
            <a:r>
              <a:rPr lang="es-CL" dirty="0" smtClean="0">
                <a:latin typeface="Helvetica"/>
                <a:cs typeface="Helvetica"/>
              </a:rPr>
              <a:t>edia</a:t>
            </a:r>
            <a:endParaRPr lang="es-CL" dirty="0">
              <a:latin typeface="Helvetica"/>
              <a:cs typeface="Helvetica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H="1" flipV="1">
            <a:off x="4230092" y="4581128"/>
            <a:ext cx="728464" cy="15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5310212" y="5445224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7722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96552" y="908720"/>
            <a:ext cx="9540552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>
                <a:latin typeface="Helvetica"/>
                <a:cs typeface="Helvetica"/>
              </a:rPr>
              <a:t>Propiedades de la distribución normal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 smtClean="0">
                <a:latin typeface="Helvetica"/>
                <a:cs typeface="Helvetica"/>
              </a:rPr>
              <a:t>1. Su </a:t>
            </a:r>
            <a:r>
              <a:rPr lang="es-ES_tradnl" sz="1800" dirty="0">
                <a:latin typeface="Helvetica"/>
                <a:cs typeface="Helvetica"/>
              </a:rPr>
              <a:t>esperanza es </a:t>
            </a:r>
            <a:r>
              <a:rPr lang="es-ES_tradnl" sz="1800" dirty="0" smtClean="0">
                <a:latin typeface="Helvetica"/>
                <a:cs typeface="Helvetica"/>
              </a:rPr>
              <a:t>μ.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 smtClean="0">
                <a:latin typeface="Helvetica"/>
                <a:cs typeface="Helvetica"/>
              </a:rPr>
              <a:t>2. Su </a:t>
            </a:r>
            <a:r>
              <a:rPr lang="es-ES_tradnl" sz="1800" dirty="0">
                <a:latin typeface="Helvetica"/>
                <a:cs typeface="Helvetica"/>
              </a:rPr>
              <a:t>varianza es σ</a:t>
            </a:r>
            <a:r>
              <a:rPr lang="es-ES_tradnl" sz="1800" baseline="30000" dirty="0">
                <a:latin typeface="Helvetica"/>
                <a:cs typeface="Helvetica"/>
              </a:rPr>
              <a:t>2</a:t>
            </a:r>
            <a:r>
              <a:rPr lang="es-ES_tradnl" sz="1800" dirty="0">
                <a:latin typeface="Helvetica"/>
                <a:cs typeface="Helvetica"/>
              </a:rPr>
              <a:t>, por lo tanto su </a:t>
            </a:r>
            <a:r>
              <a:rPr lang="es-ES_tradnl" sz="1800" dirty="0" smtClean="0">
                <a:latin typeface="Helvetica"/>
                <a:cs typeface="Helvetica"/>
              </a:rPr>
              <a:t>desviación </a:t>
            </a:r>
            <a:r>
              <a:rPr lang="es-ES_tradnl" sz="1800" dirty="0">
                <a:latin typeface="Helvetica"/>
                <a:cs typeface="Helvetica"/>
              </a:rPr>
              <a:t>estándar es </a:t>
            </a:r>
            <a:r>
              <a:rPr lang="es-ES_tradnl" sz="1800" dirty="0" err="1" smtClean="0">
                <a:latin typeface="Helvetica"/>
                <a:cs typeface="Helvetica"/>
              </a:rPr>
              <a:t>σ</a:t>
            </a:r>
            <a:r>
              <a:rPr lang="es-ES_tradnl" sz="1800" dirty="0" smtClean="0">
                <a:latin typeface="Helvetica"/>
                <a:cs typeface="Helvetica"/>
              </a:rPr>
              <a:t>.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 smtClean="0">
                <a:latin typeface="Helvetica"/>
                <a:cs typeface="Helvetica"/>
              </a:rPr>
              <a:t>3. Es </a:t>
            </a:r>
            <a:r>
              <a:rPr lang="es-ES_tradnl" sz="1800" dirty="0">
                <a:latin typeface="Helvetica"/>
                <a:cs typeface="Helvetica"/>
              </a:rPr>
              <a:t>simétrica respecto a su </a:t>
            </a:r>
            <a:r>
              <a:rPr lang="es-ES_tradnl" sz="1800" dirty="0" smtClean="0">
                <a:latin typeface="Helvetica"/>
                <a:cs typeface="Helvetica"/>
              </a:rPr>
              <a:t>μ.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 smtClean="0">
                <a:latin typeface="Helvetica"/>
                <a:cs typeface="Helvetica"/>
              </a:rPr>
              <a:t>4. Media</a:t>
            </a:r>
            <a:r>
              <a:rPr lang="es-ES_tradnl" sz="1800" dirty="0">
                <a:latin typeface="Helvetica"/>
                <a:cs typeface="Helvetica"/>
              </a:rPr>
              <a:t>, moda y mediana coinciden</a:t>
            </a:r>
            <a:r>
              <a:rPr lang="es-ES_tradnl" sz="1800" dirty="0" smtClean="0">
                <a:latin typeface="Helvetica"/>
                <a:cs typeface="Helvetica"/>
              </a:rPr>
              <a:t>.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 smtClean="0">
                <a:latin typeface="Helvetica"/>
                <a:cs typeface="Helvetica"/>
              </a:rPr>
              <a:t>5. La </a:t>
            </a:r>
            <a:r>
              <a:rPr lang="es-ES_tradnl" sz="1800" dirty="0">
                <a:latin typeface="Helvetica"/>
                <a:cs typeface="Helvetica"/>
              </a:rPr>
              <a:t>probabilidad </a:t>
            </a:r>
            <a:r>
              <a:rPr lang="es-ES_tradnl" sz="1800" dirty="0" smtClean="0">
                <a:latin typeface="Helvetica"/>
                <a:cs typeface="Helvetica"/>
              </a:rPr>
              <a:t>total equivale </a:t>
            </a:r>
            <a:r>
              <a:rPr lang="es-ES_tradnl" sz="1800" dirty="0">
                <a:latin typeface="Helvetica"/>
                <a:cs typeface="Helvetica"/>
              </a:rPr>
              <a:t>al área encerrada bajo la curva.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789040"/>
            <a:ext cx="5316145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2298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96552" y="908720"/>
            <a:ext cx="9540552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>
                <a:latin typeface="Helvetica"/>
                <a:cs typeface="Helvetica"/>
              </a:rPr>
              <a:t>Propiedades de la distribución normal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 smtClean="0">
                <a:latin typeface="Helvetica"/>
                <a:cs typeface="Helvetica"/>
              </a:rPr>
              <a:t>Recordemos que la </a:t>
            </a:r>
            <a:r>
              <a:rPr lang="es-ES_tradnl" sz="1800" dirty="0" err="1" smtClean="0">
                <a:latin typeface="Helvetica"/>
                <a:cs typeface="Helvetica"/>
              </a:rPr>
              <a:t>σ</a:t>
            </a:r>
            <a:r>
              <a:rPr lang="es-ES_tradnl" sz="1800" dirty="0" smtClean="0">
                <a:latin typeface="Helvetica"/>
                <a:cs typeface="Helvetica"/>
              </a:rPr>
              <a:t> es una medida de cómo están distribuidos los datos. 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>
                <a:latin typeface="Helvetica"/>
                <a:cs typeface="Helvetica"/>
              </a:rPr>
              <a:t>P</a:t>
            </a:r>
            <a:r>
              <a:rPr lang="es-ES_tradnl" sz="1800" dirty="0" smtClean="0">
                <a:latin typeface="Helvetica"/>
                <a:cs typeface="Helvetica"/>
              </a:rPr>
              <a:t>odemos caracterizar la distribución </a:t>
            </a:r>
            <a:r>
              <a:rPr lang="es-ES_tradnl" sz="1800" dirty="0">
                <a:latin typeface="Helvetica"/>
                <a:cs typeface="Helvetica"/>
              </a:rPr>
              <a:t>de probabilidad en </a:t>
            </a:r>
            <a:r>
              <a:rPr lang="es-ES_tradnl" sz="1800" dirty="0" smtClean="0">
                <a:latin typeface="Helvetica"/>
                <a:cs typeface="Helvetica"/>
              </a:rPr>
              <a:t>entorno </a:t>
            </a:r>
            <a:r>
              <a:rPr lang="es-ES_tradnl" sz="1800" dirty="0">
                <a:latin typeface="Helvetica"/>
                <a:cs typeface="Helvetica"/>
              </a:rPr>
              <a:t>de la μ</a:t>
            </a:r>
            <a:r>
              <a:rPr lang="es-ES_tradnl" sz="1800" dirty="0" smtClean="0">
                <a:latin typeface="Helvetica"/>
                <a:cs typeface="Helvetica"/>
              </a:rPr>
              <a:t>:</a:t>
            </a:r>
            <a:endParaRPr lang="es-ES_tradnl" sz="18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 smtClean="0">
                <a:latin typeface="Helvetica"/>
                <a:cs typeface="Helvetica"/>
              </a:rPr>
              <a:t>entonces :</a:t>
            </a: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Screen Shot 2018-09-04 at 4.40.00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5" r="4761" b="10093"/>
          <a:stretch/>
        </p:blipFill>
        <p:spPr>
          <a:xfrm>
            <a:off x="323528" y="2348880"/>
            <a:ext cx="2507649" cy="4392488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2987824" y="4437112"/>
            <a:ext cx="792088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39952" y="4140368"/>
            <a:ext cx="4824536" cy="5847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1600" dirty="0" smtClean="0">
                <a:latin typeface="Helvetica"/>
                <a:cs typeface="Helvetica"/>
              </a:rPr>
              <a:t>Alrededor del 95% de las observaciones está dentro de 1.96 desviaciones estándar de la media.</a:t>
            </a:r>
            <a:endParaRPr lang="es-CL" sz="1600" dirty="0">
              <a:latin typeface="Helvetica"/>
              <a:cs typeface="Helvetica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987824" y="2996952"/>
            <a:ext cx="792088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39952" y="2700208"/>
            <a:ext cx="4680520" cy="5847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1600" dirty="0" smtClean="0">
                <a:latin typeface="Helvetica"/>
                <a:cs typeface="Helvetica"/>
              </a:rPr>
              <a:t>Alrededor del 68% de las observaciones está dentro de 1 desviaciones estándar de la media.</a:t>
            </a:r>
            <a:endParaRPr lang="es-CL" sz="1600" dirty="0">
              <a:latin typeface="Helvetica"/>
              <a:cs typeface="Helvetica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987824" y="6021288"/>
            <a:ext cx="792088" cy="0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39952" y="5724544"/>
            <a:ext cx="4680520" cy="5847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L" sz="1600" dirty="0" smtClean="0">
                <a:latin typeface="Helvetica"/>
                <a:cs typeface="Helvetica"/>
              </a:rPr>
              <a:t>Alrededor del 99.7% de las observaciones está dentro de 3 desviaciones estándar de la media.</a:t>
            </a:r>
            <a:endParaRPr lang="es-CL" sz="16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867755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96552" y="980728"/>
            <a:ext cx="954055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Debido a que es simétrica en torno a la μ, las distribuciones normales de todas las variables </a:t>
            </a:r>
            <a:r>
              <a:rPr lang="es-ES_tradnl" sz="2000" dirty="0">
                <a:latin typeface="Helvetica"/>
                <a:cs typeface="Helvetica"/>
              </a:rPr>
              <a:t>son lo mismo si usamos las unidades de </a:t>
            </a:r>
            <a:r>
              <a:rPr lang="es-ES_tradnl" sz="2000" dirty="0" smtClean="0">
                <a:latin typeface="Helvetica"/>
                <a:cs typeface="Helvetica"/>
              </a:rPr>
              <a:t>medida </a:t>
            </a:r>
            <a:r>
              <a:rPr lang="es-ES_tradnl" sz="2000" dirty="0" err="1" smtClean="0">
                <a:latin typeface="Helvetica"/>
                <a:cs typeface="Helvetica"/>
              </a:rPr>
              <a:t>σ</a:t>
            </a:r>
            <a:r>
              <a:rPr lang="es-ES_tradnl" sz="2000" dirty="0" smtClean="0">
                <a:latin typeface="Helvetica"/>
                <a:cs typeface="Helvetica"/>
              </a:rPr>
              <a:t> </a:t>
            </a:r>
            <a:r>
              <a:rPr lang="es-ES_tradnl" sz="2000" dirty="0">
                <a:latin typeface="Helvetica"/>
                <a:cs typeface="Helvetica"/>
              </a:rPr>
              <a:t>alrededor de su media </a:t>
            </a:r>
            <a:r>
              <a:rPr lang="es-ES_tradnl" sz="2000" dirty="0" smtClean="0">
                <a:latin typeface="Helvetica"/>
                <a:cs typeface="Helvetica"/>
              </a:rPr>
              <a:t>µ. 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>
                <a:latin typeface="Helvetica"/>
                <a:cs typeface="Helvetica"/>
              </a:rPr>
              <a:t>La distribución normal estandarizada es una distribución normal con </a:t>
            </a:r>
            <a:r>
              <a:rPr lang="es-ES_tradnl" sz="1800" dirty="0">
                <a:latin typeface="Helvetica"/>
                <a:cs typeface="Helvetica"/>
              </a:rPr>
              <a:t>μ = 0 y </a:t>
            </a:r>
            <a:r>
              <a:rPr lang="es-ES_tradnl" sz="1800" dirty="0" err="1" smtClean="0">
                <a:latin typeface="Helvetica"/>
                <a:cs typeface="Helvetica"/>
              </a:rPr>
              <a:t>σ</a:t>
            </a:r>
            <a:r>
              <a:rPr lang="es-ES_tradnl" sz="1800" dirty="0" smtClean="0">
                <a:latin typeface="Helvetica"/>
                <a:cs typeface="Helvetica"/>
              </a:rPr>
              <a:t> </a:t>
            </a:r>
            <a:r>
              <a:rPr lang="es-ES_tradnl" sz="1800" dirty="0">
                <a:latin typeface="Helvetica"/>
                <a:cs typeface="Helvetica"/>
              </a:rPr>
              <a:t>= </a:t>
            </a:r>
            <a:r>
              <a:rPr lang="es-ES_tradnl" sz="1800" dirty="0" smtClean="0">
                <a:latin typeface="Helvetica"/>
                <a:cs typeface="Helvetica"/>
              </a:rPr>
              <a:t>1.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3697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396552" y="980728"/>
            <a:ext cx="954055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 smtClean="0">
                <a:latin typeface="Helvetica"/>
                <a:cs typeface="Helvetica"/>
              </a:rPr>
              <a:t>Definición</a:t>
            </a:r>
            <a:r>
              <a:rPr lang="es-ES_tradnl" sz="2000" dirty="0">
                <a:latin typeface="Helvetica"/>
                <a:cs typeface="Helvetica"/>
              </a:rPr>
              <a:t>: Si x es una </a:t>
            </a:r>
            <a:r>
              <a:rPr lang="es-ES_tradnl" sz="2000" dirty="0" smtClean="0">
                <a:latin typeface="Helvetica"/>
                <a:cs typeface="Helvetica"/>
              </a:rPr>
              <a:t>observación (valor) </a:t>
            </a:r>
            <a:r>
              <a:rPr lang="es-ES_tradnl" sz="2000" dirty="0">
                <a:latin typeface="Helvetica"/>
                <a:cs typeface="Helvetica"/>
              </a:rPr>
              <a:t>de una </a:t>
            </a:r>
            <a:r>
              <a:rPr lang="es-ES_tradnl" sz="2000" dirty="0" smtClean="0">
                <a:latin typeface="Helvetica"/>
                <a:cs typeface="Helvetica"/>
              </a:rPr>
              <a:t>distribución </a:t>
            </a:r>
            <a:r>
              <a:rPr lang="es-ES_tradnl" sz="2000" dirty="0">
                <a:latin typeface="Helvetica"/>
                <a:cs typeface="Helvetica"/>
              </a:rPr>
              <a:t>con media µ y </a:t>
            </a:r>
            <a:r>
              <a:rPr lang="es-ES_tradnl" sz="2000" dirty="0" smtClean="0">
                <a:latin typeface="Helvetica"/>
                <a:cs typeface="Helvetica"/>
              </a:rPr>
              <a:t>desviación estándar </a:t>
            </a:r>
            <a:r>
              <a:rPr lang="es-ES_tradnl" sz="2000" dirty="0" err="1">
                <a:latin typeface="Helvetica"/>
                <a:cs typeface="Helvetica"/>
              </a:rPr>
              <a:t>σ</a:t>
            </a:r>
            <a:r>
              <a:rPr lang="es-ES_tradnl" sz="2000" dirty="0">
                <a:latin typeface="Helvetica"/>
                <a:cs typeface="Helvetica"/>
              </a:rPr>
              <a:t>, el valor </a:t>
            </a:r>
            <a:r>
              <a:rPr lang="es-ES_tradnl" sz="2000" dirty="0" smtClean="0">
                <a:latin typeface="Helvetica"/>
                <a:cs typeface="Helvetica"/>
              </a:rPr>
              <a:t>estándar </a:t>
            </a:r>
            <a:r>
              <a:rPr lang="es-ES_tradnl" sz="2000" dirty="0">
                <a:latin typeface="Helvetica"/>
                <a:cs typeface="Helvetica"/>
              </a:rPr>
              <a:t>de x </a:t>
            </a:r>
            <a:r>
              <a:rPr lang="es-ES_tradnl" sz="2000" dirty="0" smtClean="0">
                <a:latin typeface="Helvetica"/>
                <a:cs typeface="Helvetica"/>
              </a:rPr>
              <a:t>es: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Screen Shot 2018-09-04 at 5.09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204864"/>
            <a:ext cx="2129532" cy="13511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5536" y="3933056"/>
            <a:ext cx="30963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 smtClean="0">
                <a:latin typeface="Helvetica"/>
                <a:cs typeface="Helvetica"/>
              </a:rPr>
              <a:t>Este valor estándar también se le conoce como valor-z.</a:t>
            </a:r>
            <a:endParaRPr lang="es-CL" dirty="0">
              <a:latin typeface="Helvetica"/>
              <a:cs typeface="Helvetica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915816" y="2852936"/>
            <a:ext cx="647849" cy="649238"/>
          </a:xfrm>
          <a:prstGeom prst="straightConnector1">
            <a:avLst/>
          </a:prstGeom>
          <a:ln w="38100" cmpd="sng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4850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540568" y="980728"/>
            <a:ext cx="954055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El </a:t>
            </a:r>
            <a:r>
              <a:rPr lang="es-ES_tradnl" sz="2000" dirty="0">
                <a:latin typeface="Helvetica"/>
                <a:cs typeface="Helvetica"/>
              </a:rPr>
              <a:t>valor-z nos indica </a:t>
            </a:r>
            <a:r>
              <a:rPr lang="es-ES_tradnl" sz="2000" dirty="0" smtClean="0">
                <a:latin typeface="Helvetica"/>
                <a:cs typeface="Helvetica"/>
              </a:rPr>
              <a:t>a cuantas </a:t>
            </a:r>
            <a:r>
              <a:rPr lang="es-ES_tradnl" sz="2000" dirty="0" err="1" smtClean="0">
                <a:latin typeface="Helvetica"/>
                <a:cs typeface="Helvetica"/>
              </a:rPr>
              <a:t>σ</a:t>
            </a:r>
            <a:r>
              <a:rPr lang="es-ES_tradnl" sz="2000" dirty="0" smtClean="0">
                <a:latin typeface="Helvetica"/>
                <a:cs typeface="Helvetica"/>
              </a:rPr>
              <a:t> está </a:t>
            </a:r>
            <a:r>
              <a:rPr lang="es-ES_tradnl" sz="2000" dirty="0">
                <a:latin typeface="Helvetica"/>
                <a:cs typeface="Helvetica"/>
              </a:rPr>
              <a:t>la </a:t>
            </a:r>
            <a:r>
              <a:rPr lang="es-ES_tradnl" sz="2000" dirty="0" smtClean="0">
                <a:latin typeface="Helvetica"/>
                <a:cs typeface="Helvetica"/>
              </a:rPr>
              <a:t>observación </a:t>
            </a:r>
            <a:r>
              <a:rPr lang="es-ES_tradnl" sz="2000" dirty="0">
                <a:latin typeface="Helvetica"/>
                <a:cs typeface="Helvetica"/>
              </a:rPr>
              <a:t>original </a:t>
            </a:r>
            <a:r>
              <a:rPr lang="es-ES_tradnl" sz="2000" dirty="0" smtClean="0">
                <a:latin typeface="Helvetica"/>
                <a:cs typeface="Helvetica"/>
              </a:rPr>
              <a:t>en relación a la µ y </a:t>
            </a:r>
            <a:r>
              <a:rPr lang="es-ES_tradnl" sz="2000" dirty="0">
                <a:latin typeface="Helvetica"/>
                <a:cs typeface="Helvetica"/>
              </a:rPr>
              <a:t>en que </a:t>
            </a:r>
            <a:r>
              <a:rPr lang="es-ES_tradnl" sz="2000" dirty="0" smtClean="0">
                <a:latin typeface="Helvetica"/>
                <a:cs typeface="Helvetica"/>
              </a:rPr>
              <a:t>dirección</a:t>
            </a:r>
            <a:r>
              <a:rPr lang="es-ES_tradnl" sz="2000" dirty="0">
                <a:latin typeface="Helvetica"/>
                <a:cs typeface="Helvetica"/>
              </a:rPr>
              <a:t>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Screen Shot 2018-09-04 at 5.16.0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14" y="3335665"/>
            <a:ext cx="7915850" cy="3045663"/>
          </a:xfrm>
          <a:prstGeom prst="rect">
            <a:avLst/>
          </a:prstGeom>
        </p:spPr>
      </p:pic>
      <p:sp>
        <p:nvSpPr>
          <p:cNvPr id="3" name="Curved Down Arrow 2"/>
          <p:cNvSpPr/>
          <p:nvPr/>
        </p:nvSpPr>
        <p:spPr>
          <a:xfrm>
            <a:off x="5364088" y="2420888"/>
            <a:ext cx="1872208" cy="792088"/>
          </a:xfrm>
          <a:prstGeom prst="curved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518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creen Shot 2018-09-04 at 5.25.4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529" y="764704"/>
            <a:ext cx="2171730" cy="1440160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612576" y="980728"/>
            <a:ext cx="8136904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1800" b="1" dirty="0" smtClean="0">
                <a:latin typeface="Helvetica"/>
                <a:cs typeface="Helvetica"/>
              </a:rPr>
              <a:t>Ejemplo 1</a:t>
            </a:r>
            <a:r>
              <a:rPr lang="es-ES_tradnl" sz="1800" dirty="0" smtClean="0">
                <a:latin typeface="Helvetica"/>
                <a:cs typeface="Helvetica"/>
              </a:rPr>
              <a:t>: </a:t>
            </a:r>
            <a:r>
              <a:rPr lang="es-ES_tradnl" sz="1800" dirty="0" smtClean="0">
                <a:latin typeface="Helvetica"/>
                <a:cs typeface="Helvetica"/>
              </a:rPr>
              <a:t>La masa corporal de una población de </a:t>
            </a:r>
            <a:r>
              <a:rPr lang="es-ES_tradnl" sz="1800" i="1" dirty="0" smtClean="0">
                <a:latin typeface="Helvetica"/>
                <a:cs typeface="Helvetica"/>
              </a:rPr>
              <a:t>Drosophila </a:t>
            </a:r>
            <a:r>
              <a:rPr lang="es-ES_tradnl" sz="1800" i="1" dirty="0" err="1" smtClean="0">
                <a:latin typeface="Helvetica"/>
                <a:cs typeface="Helvetica"/>
              </a:rPr>
              <a:t>suzukii</a:t>
            </a:r>
            <a:r>
              <a:rPr lang="es-ES_tradnl" sz="1800" dirty="0" smtClean="0">
                <a:latin typeface="Helvetica"/>
                <a:cs typeface="Helvetica"/>
              </a:rPr>
              <a:t>  es Normal con µ=0.8 mg.  y </a:t>
            </a:r>
            <a:r>
              <a:rPr lang="es-ES_tradnl" sz="1800" dirty="0" err="1">
                <a:latin typeface="Helvetica"/>
                <a:cs typeface="Helvetica"/>
              </a:rPr>
              <a:t>σ</a:t>
            </a:r>
            <a:r>
              <a:rPr lang="es-ES_tradnl" sz="1800" dirty="0">
                <a:latin typeface="Helvetica"/>
                <a:cs typeface="Helvetica"/>
              </a:rPr>
              <a:t> </a:t>
            </a:r>
            <a:r>
              <a:rPr lang="es-ES_tradnl" sz="1800" dirty="0" smtClean="0">
                <a:latin typeface="Helvetica"/>
                <a:cs typeface="Helvetica"/>
              </a:rPr>
              <a:t>= 0.2 mg. ¿Cual es la 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>
                <a:latin typeface="Helvetica"/>
                <a:cs typeface="Helvetica"/>
              </a:rPr>
              <a:t> </a:t>
            </a:r>
            <a:r>
              <a:rPr lang="es-ES_tradnl" sz="1800" dirty="0" smtClean="0">
                <a:latin typeface="Helvetica"/>
                <a:cs typeface="Helvetica"/>
              </a:rPr>
              <a:t>      masa estandarizada de una mosca de la fruta de masa 0.75 mg?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Screen Shot 2018-09-04 at 5.09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708920"/>
            <a:ext cx="2129532" cy="13511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707904" y="2636912"/>
            <a:ext cx="123225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 smtClean="0">
                <a:solidFill>
                  <a:srgbClr val="FF0000"/>
                </a:solidFill>
                <a:latin typeface="Helvetica"/>
                <a:cs typeface="Helvetica"/>
              </a:rPr>
              <a:t>¿?</a:t>
            </a:r>
            <a:endParaRPr lang="en-US" sz="70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847697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8-09-04 at 5.25.4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529" y="764704"/>
            <a:ext cx="2171730" cy="1440160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612576" y="980728"/>
            <a:ext cx="8136904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1800" b="1" dirty="0" smtClean="0">
                <a:latin typeface="Helvetica"/>
                <a:cs typeface="Helvetica"/>
              </a:rPr>
              <a:t>Ejemplo 1</a:t>
            </a:r>
            <a:r>
              <a:rPr lang="es-ES_tradnl" sz="1800" dirty="0" smtClean="0">
                <a:latin typeface="Helvetica"/>
                <a:cs typeface="Helvetica"/>
              </a:rPr>
              <a:t>: </a:t>
            </a:r>
            <a:r>
              <a:rPr lang="es-ES_tradnl" sz="1800" dirty="0" smtClean="0">
                <a:latin typeface="Helvetica"/>
                <a:cs typeface="Helvetica"/>
              </a:rPr>
              <a:t>La masa corporal de una población de </a:t>
            </a:r>
            <a:r>
              <a:rPr lang="es-ES_tradnl" sz="1800" i="1" dirty="0" smtClean="0">
                <a:latin typeface="Helvetica"/>
                <a:cs typeface="Helvetica"/>
              </a:rPr>
              <a:t>Drosophila </a:t>
            </a:r>
            <a:r>
              <a:rPr lang="es-ES_tradnl" sz="1800" i="1" dirty="0" err="1" smtClean="0">
                <a:latin typeface="Helvetica"/>
                <a:cs typeface="Helvetica"/>
              </a:rPr>
              <a:t>suzukii</a:t>
            </a:r>
            <a:r>
              <a:rPr lang="es-ES_tradnl" sz="1800" dirty="0" smtClean="0">
                <a:latin typeface="Helvetica"/>
                <a:cs typeface="Helvetica"/>
              </a:rPr>
              <a:t>  es Normal con µ=0.8 mg.  y </a:t>
            </a:r>
            <a:r>
              <a:rPr lang="es-ES_tradnl" sz="1800" dirty="0" err="1">
                <a:latin typeface="Helvetica"/>
                <a:cs typeface="Helvetica"/>
              </a:rPr>
              <a:t>σ</a:t>
            </a:r>
            <a:r>
              <a:rPr lang="es-ES_tradnl" sz="1800" dirty="0">
                <a:latin typeface="Helvetica"/>
                <a:cs typeface="Helvetica"/>
              </a:rPr>
              <a:t> </a:t>
            </a:r>
            <a:r>
              <a:rPr lang="es-ES_tradnl" sz="1800" dirty="0" smtClean="0">
                <a:latin typeface="Helvetica"/>
                <a:cs typeface="Helvetica"/>
              </a:rPr>
              <a:t>= 0.2 mg. ¿Cual es la </a:t>
            </a: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r>
              <a:rPr lang="es-ES_tradnl" sz="1800" dirty="0">
                <a:latin typeface="Helvetica"/>
                <a:cs typeface="Helvetica"/>
              </a:rPr>
              <a:t> </a:t>
            </a:r>
            <a:r>
              <a:rPr lang="es-ES_tradnl" sz="1800" dirty="0" smtClean="0">
                <a:latin typeface="Helvetica"/>
                <a:cs typeface="Helvetica"/>
              </a:rPr>
              <a:t>      masa estandarizada de una mosca de la fruta de masa 0.75 mg?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Screen Shot 2018-09-04 at 5.09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708920"/>
            <a:ext cx="2129532" cy="13511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4102" y="2852936"/>
            <a:ext cx="27494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Helvetica"/>
                <a:cs typeface="Helvetica"/>
              </a:rPr>
              <a:t>Z = (0.65 </a:t>
            </a:r>
            <a:r>
              <a:rPr lang="mr-IN" sz="2200" dirty="0" smtClean="0">
                <a:latin typeface="Helvetica"/>
                <a:cs typeface="Helvetica"/>
              </a:rPr>
              <a:t>–</a:t>
            </a:r>
            <a:r>
              <a:rPr lang="en-US" sz="2200" dirty="0" smtClean="0">
                <a:latin typeface="Helvetica"/>
                <a:cs typeface="Helvetica"/>
              </a:rPr>
              <a:t> 0.8) / 0.2</a:t>
            </a:r>
          </a:p>
          <a:p>
            <a:r>
              <a:rPr lang="en-US" sz="2200" dirty="0" smtClean="0">
                <a:latin typeface="Helvetica"/>
                <a:cs typeface="Helvetica"/>
              </a:rPr>
              <a:t>Z= -0.25</a:t>
            </a:r>
            <a:endParaRPr lang="en-US" sz="2200" dirty="0">
              <a:latin typeface="Helvetica"/>
              <a:cs typeface="Helvetica"/>
            </a:endParaRPr>
          </a:p>
        </p:txBody>
      </p:sp>
      <p:pic>
        <p:nvPicPr>
          <p:cNvPr id="12" name="Picture 11" descr="Screen Shot 2018-09-04 at 5.36.20 P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2" t="-1467" r="4946" b="1467"/>
          <a:stretch/>
        </p:blipFill>
        <p:spPr>
          <a:xfrm>
            <a:off x="1547664" y="3898218"/>
            <a:ext cx="6064856" cy="2376264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>
            <a:off x="4283968" y="3645024"/>
            <a:ext cx="864096" cy="2376264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302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creen Shot 2018-09-04 at 5.44.4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501008"/>
            <a:ext cx="8280920" cy="2309870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540568" y="980728"/>
            <a:ext cx="9793088" cy="3313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>
                <a:latin typeface="Helvetica"/>
                <a:cs typeface="Helvetica"/>
              </a:rPr>
              <a:t>Si tenemos un ejercicio con valores de </a:t>
            </a:r>
            <a:r>
              <a:rPr lang="es-ES_tradnl" sz="2000" dirty="0" smtClean="0">
                <a:latin typeface="Helvetica"/>
                <a:cs typeface="Helvetica"/>
              </a:rPr>
              <a:t>x, </a:t>
            </a:r>
            <a:r>
              <a:rPr lang="es-ES_tradnl" sz="2000" dirty="0">
                <a:latin typeface="Helvetica"/>
                <a:cs typeface="Helvetica"/>
              </a:rPr>
              <a:t>μ y </a:t>
            </a:r>
            <a:r>
              <a:rPr lang="es-ES_tradnl" sz="2000" dirty="0" err="1">
                <a:latin typeface="Helvetica"/>
                <a:cs typeface="Helvetica"/>
              </a:rPr>
              <a:t>σ</a:t>
            </a:r>
            <a:r>
              <a:rPr lang="es-ES_tradnl" sz="2000" dirty="0">
                <a:latin typeface="Helvetica"/>
                <a:cs typeface="Helvetica"/>
              </a:rPr>
              <a:t> hacemos el cambio de variable y encontramos </a:t>
            </a:r>
            <a:r>
              <a:rPr lang="es-ES_tradnl" sz="2000" dirty="0" smtClean="0">
                <a:latin typeface="Helvetica"/>
                <a:cs typeface="Helvetica"/>
              </a:rPr>
              <a:t>Z.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Recordemos que la </a:t>
            </a:r>
            <a:r>
              <a:rPr lang="es-ES_tradnl" sz="2000" dirty="0">
                <a:latin typeface="Helvetica"/>
                <a:cs typeface="Helvetica"/>
              </a:rPr>
              <a:t>probabilidad total </a:t>
            </a:r>
            <a:r>
              <a:rPr lang="es-ES_tradnl" sz="2000" dirty="0" smtClean="0">
                <a:latin typeface="Helvetica"/>
                <a:cs typeface="Helvetica"/>
              </a:rPr>
              <a:t>(1) equivale </a:t>
            </a:r>
            <a:r>
              <a:rPr lang="es-ES_tradnl" sz="2000" dirty="0">
                <a:latin typeface="Helvetica"/>
                <a:cs typeface="Helvetica"/>
              </a:rPr>
              <a:t>al </a:t>
            </a:r>
            <a:r>
              <a:rPr lang="es-ES_tradnl" sz="2000" dirty="0" smtClean="0">
                <a:latin typeface="Helvetica"/>
                <a:cs typeface="Helvetica"/>
              </a:rPr>
              <a:t>área encerrada </a:t>
            </a:r>
            <a:r>
              <a:rPr lang="es-ES_tradnl" sz="2000" dirty="0">
                <a:latin typeface="Helvetica"/>
                <a:cs typeface="Helvetica"/>
              </a:rPr>
              <a:t>bajo la </a:t>
            </a:r>
            <a:r>
              <a:rPr lang="es-ES_tradnl" sz="2000" dirty="0" smtClean="0">
                <a:latin typeface="Helvetica"/>
                <a:cs typeface="Helvetica"/>
              </a:rPr>
              <a:t>curva.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dirty="0" smtClean="0">
                <a:latin typeface="Helvetica"/>
                <a:cs typeface="Helvetica"/>
              </a:rPr>
              <a:t>Entonces, z nos permite encontrar la probabilidad asociada a la observación x.</a:t>
            </a: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300192" y="4653136"/>
            <a:ext cx="648072" cy="36004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59632" y="5951021"/>
            <a:ext cx="6984776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dirty="0" smtClean="0">
                <a:solidFill>
                  <a:srgbClr val="FF0000"/>
                </a:solidFill>
                <a:latin typeface="Helvetica"/>
                <a:cs typeface="Helvetica"/>
              </a:rPr>
              <a:t>La probabilidad asociada a cada valor de z es fija y se encuentra tabulada en todas partes!</a:t>
            </a:r>
            <a:endParaRPr lang="es-CL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4932040" y="5013176"/>
            <a:ext cx="1368152" cy="1008112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952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8-09-04 at 5.56.2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" r="1"/>
          <a:stretch/>
        </p:blipFill>
        <p:spPr>
          <a:xfrm>
            <a:off x="107504" y="1052736"/>
            <a:ext cx="3250511" cy="1512168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Screen Shot 2018-09-04 at 5.55.1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088406"/>
            <a:ext cx="5904656" cy="548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7041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Screen Shot 2018-09-04 at 5.58.0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9" t="6487" r="6853" b="7070"/>
          <a:stretch/>
        </p:blipFill>
        <p:spPr>
          <a:xfrm>
            <a:off x="5817707" y="1144310"/>
            <a:ext cx="3218789" cy="1320357"/>
          </a:xfrm>
          <a:prstGeom prst="rect">
            <a:avLst/>
          </a:prstGeom>
        </p:spPr>
      </p:pic>
      <p:pic>
        <p:nvPicPr>
          <p:cNvPr id="6" name="Picture 5" descr="Screen Shot 2018-09-04 at 5.58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96752"/>
            <a:ext cx="5617990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093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8-09-04 at 5.56.2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" r="1"/>
          <a:stretch/>
        </p:blipFill>
        <p:spPr>
          <a:xfrm>
            <a:off x="107504" y="1052736"/>
            <a:ext cx="3250511" cy="1512168"/>
          </a:xfrm>
          <a:prstGeom prst="rect">
            <a:avLst/>
          </a:prstGeom>
        </p:spPr>
      </p:pic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Screen Shot 2018-09-04 at 5.55.1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088406"/>
            <a:ext cx="5904656" cy="5486822"/>
          </a:xfrm>
          <a:prstGeom prst="rect">
            <a:avLst/>
          </a:prstGeom>
        </p:spPr>
      </p:pic>
      <p:pic>
        <p:nvPicPr>
          <p:cNvPr id="12" name="Picture 11" descr="Screen Shot 2018-09-04 at 5.25.46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068960"/>
            <a:ext cx="2171730" cy="1440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4557167"/>
            <a:ext cx="27494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 smtClean="0">
                <a:latin typeface="Helvetica"/>
                <a:cs typeface="Helvetica"/>
              </a:rPr>
              <a:t>Z = (0.65 </a:t>
            </a:r>
            <a:r>
              <a:rPr lang="mr-IN" sz="2200" dirty="0" smtClean="0">
                <a:latin typeface="Helvetica"/>
                <a:cs typeface="Helvetica"/>
              </a:rPr>
              <a:t>–</a:t>
            </a:r>
            <a:r>
              <a:rPr lang="en-US" sz="2200" dirty="0" smtClean="0">
                <a:latin typeface="Helvetica"/>
                <a:cs typeface="Helvetica"/>
              </a:rPr>
              <a:t> 0.8) / 0.2</a:t>
            </a:r>
          </a:p>
          <a:p>
            <a:pPr algn="ctr"/>
            <a:r>
              <a:rPr lang="en-US" sz="2200" dirty="0" smtClean="0">
                <a:latin typeface="Helvetica"/>
                <a:cs typeface="Helvetica"/>
              </a:rPr>
              <a:t>Z= -0.25</a:t>
            </a:r>
            <a:endParaRPr lang="en-US" sz="2200" dirty="0">
              <a:latin typeface="Helvetica"/>
              <a:cs typeface="Helvetica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123728" y="5301060"/>
            <a:ext cx="4032448" cy="864244"/>
          </a:xfrm>
          <a:prstGeom prst="straightConnector1">
            <a:avLst/>
          </a:prstGeom>
          <a:ln w="5715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35896" y="2852936"/>
            <a:ext cx="4896544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ES_tradnl" dirty="0" smtClean="0">
                <a:solidFill>
                  <a:srgbClr val="FF0000"/>
                </a:solidFill>
                <a:latin typeface="Helvetica"/>
                <a:cs typeface="Helvetica"/>
              </a:rPr>
              <a:t>La tabla nos entrega </a:t>
            </a:r>
            <a:r>
              <a:rPr lang="es-ES_tradnl" dirty="0" smtClean="0">
                <a:solidFill>
                  <a:srgbClr val="FF0000"/>
                </a:solidFill>
                <a:latin typeface="Helvetica"/>
                <a:cs typeface="Helvetica"/>
              </a:rPr>
              <a:t>la probabilidad de que ocurran eventos menores (desde -infinito) o iguales a Z= -0.25.</a:t>
            </a:r>
          </a:p>
          <a:p>
            <a:endParaRPr lang="es-ES_tradnl" dirty="0" smtClean="0">
              <a:solidFill>
                <a:srgbClr val="FF0000"/>
              </a:solidFill>
              <a:latin typeface="Helvetica"/>
              <a:cs typeface="Helvetica"/>
            </a:endParaRPr>
          </a:p>
          <a:p>
            <a:r>
              <a:rPr lang="es-ES_tradnl" dirty="0" smtClean="0">
                <a:solidFill>
                  <a:srgbClr val="FF0000"/>
                </a:solidFill>
                <a:latin typeface="Helvetica"/>
                <a:cs typeface="Helvetica"/>
              </a:rPr>
              <a:t>En este caso el 40.13% de las observaciones tiene una masa menor o igual a la de nuestra Drosophila.</a:t>
            </a:r>
            <a:endParaRPr lang="es-CL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668659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51520" y="836712"/>
            <a:ext cx="8784976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b="1" dirty="0">
                <a:latin typeface="Helvetica"/>
                <a:cs typeface="Helvetica"/>
              </a:rPr>
              <a:t>Ejemplo 2</a:t>
            </a:r>
            <a:r>
              <a:rPr lang="es-ES_tradnl" dirty="0">
                <a:latin typeface="Helvetica"/>
                <a:cs typeface="Helvetica"/>
              </a:rPr>
              <a:t>: La temperatura ambiental durante Septiembre está distribuida normalmente con µ=18.7ºC  y </a:t>
            </a:r>
            <a:r>
              <a:rPr lang="es-ES_tradnl" dirty="0" err="1">
                <a:latin typeface="Helvetica"/>
                <a:cs typeface="Helvetica"/>
              </a:rPr>
              <a:t>σ</a:t>
            </a:r>
            <a:r>
              <a:rPr lang="es-ES_tradnl" dirty="0">
                <a:latin typeface="Helvetica"/>
                <a:cs typeface="Helvetica"/>
              </a:rPr>
              <a:t> = 5ºC ¿Cual es la  </a:t>
            </a:r>
            <a:r>
              <a:rPr lang="es-ES_tradnl" dirty="0" smtClean="0">
                <a:latin typeface="Helvetica"/>
                <a:cs typeface="Helvetica"/>
              </a:rPr>
              <a:t>probabilidad </a:t>
            </a:r>
            <a:r>
              <a:rPr lang="es-ES_tradnl" dirty="0">
                <a:latin typeface="Helvetica"/>
                <a:cs typeface="Helvetica"/>
              </a:rPr>
              <a:t>de que la temperatura durante septiembre esté por encima de los 21ºC</a:t>
            </a:r>
          </a:p>
        </p:txBody>
      </p:sp>
      <p:pic>
        <p:nvPicPr>
          <p:cNvPr id="7" name="Picture 6" descr="Screen Shot 2018-09-04 at 5.09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204864"/>
            <a:ext cx="2129532" cy="13511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8184" y="3284984"/>
            <a:ext cx="123225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dirty="0" smtClean="0">
                <a:solidFill>
                  <a:srgbClr val="FF0000"/>
                </a:solidFill>
                <a:latin typeface="Helvetica"/>
                <a:cs typeface="Helvetica"/>
              </a:rPr>
              <a:t>¿?</a:t>
            </a:r>
            <a:endParaRPr lang="en-US" sz="7000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87955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Screen Shot 2018-09-04 at 5.58.14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0"/>
          <a:stretch/>
        </p:blipFill>
        <p:spPr>
          <a:xfrm>
            <a:off x="179512" y="2112359"/>
            <a:ext cx="4825902" cy="448942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1520" y="836712"/>
            <a:ext cx="8784976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b="1" dirty="0">
                <a:latin typeface="Helvetica"/>
                <a:cs typeface="Helvetica"/>
              </a:rPr>
              <a:t>Ejemplo 2</a:t>
            </a:r>
            <a:r>
              <a:rPr lang="es-ES_tradnl" dirty="0">
                <a:latin typeface="Helvetica"/>
                <a:cs typeface="Helvetica"/>
              </a:rPr>
              <a:t>: La temperatura ambiental durante Septiembre está distribuida normalmente con µ=18.7ºC  y </a:t>
            </a:r>
            <a:r>
              <a:rPr lang="es-ES_tradnl" dirty="0" err="1">
                <a:latin typeface="Helvetica"/>
                <a:cs typeface="Helvetica"/>
              </a:rPr>
              <a:t>σ</a:t>
            </a:r>
            <a:r>
              <a:rPr lang="es-ES_tradnl" dirty="0">
                <a:latin typeface="Helvetica"/>
                <a:cs typeface="Helvetica"/>
              </a:rPr>
              <a:t> = 5ºC ¿Cual es la   probabilidad de que la temperatura durante septiembre esté por encima de los 21ºC</a:t>
            </a:r>
          </a:p>
        </p:txBody>
      </p:sp>
      <p:pic>
        <p:nvPicPr>
          <p:cNvPr id="7" name="Picture 6" descr="Screen Shot 2018-09-04 at 5.09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204864"/>
            <a:ext cx="2129532" cy="1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24802" y="3297178"/>
            <a:ext cx="2159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Helvetica"/>
                <a:cs typeface="Helvetica"/>
              </a:rPr>
              <a:t>Z = </a:t>
            </a:r>
            <a:r>
              <a:rPr lang="en-US" sz="2000" dirty="0" smtClean="0">
                <a:latin typeface="Helvetica"/>
                <a:cs typeface="Helvetica"/>
              </a:rPr>
              <a:t>(</a:t>
            </a:r>
            <a:r>
              <a:rPr lang="en-US" sz="2000" dirty="0" smtClean="0">
                <a:latin typeface="Helvetica"/>
                <a:cs typeface="Helvetica"/>
              </a:rPr>
              <a:t>21</a:t>
            </a:r>
            <a:r>
              <a:rPr lang="en-US" sz="2000" dirty="0" smtClean="0">
                <a:latin typeface="Helvetica"/>
                <a:cs typeface="Helvetica"/>
              </a:rPr>
              <a:t> </a:t>
            </a:r>
            <a:r>
              <a:rPr lang="mr-IN" sz="2000" dirty="0" smtClean="0">
                <a:latin typeface="Helvetica"/>
                <a:cs typeface="Helvetica"/>
              </a:rPr>
              <a:t>–</a:t>
            </a:r>
            <a:r>
              <a:rPr lang="en-US" sz="2000" dirty="0" smtClean="0">
                <a:latin typeface="Helvetica"/>
                <a:cs typeface="Helvetica"/>
              </a:rPr>
              <a:t>18.7</a:t>
            </a:r>
            <a:r>
              <a:rPr lang="en-US" sz="2000" dirty="0" smtClean="0">
                <a:latin typeface="Helvetica"/>
                <a:cs typeface="Helvetica"/>
              </a:rPr>
              <a:t>) </a:t>
            </a:r>
            <a:r>
              <a:rPr lang="en-US" sz="2000" dirty="0" smtClean="0">
                <a:latin typeface="Helvetica"/>
                <a:cs typeface="Helvetica"/>
              </a:rPr>
              <a:t>/ </a:t>
            </a:r>
            <a:r>
              <a:rPr lang="en-US" sz="2000" dirty="0">
                <a:latin typeface="Helvetica"/>
                <a:cs typeface="Helvetica"/>
              </a:rPr>
              <a:t>5</a:t>
            </a:r>
            <a:endParaRPr lang="en-US" sz="2000" dirty="0" smtClean="0">
              <a:latin typeface="Helvetica"/>
              <a:cs typeface="Helvetica"/>
            </a:endParaRPr>
          </a:p>
          <a:p>
            <a:pPr algn="ctr"/>
            <a:r>
              <a:rPr lang="en-US" sz="2000" dirty="0" smtClean="0">
                <a:latin typeface="Helvetica"/>
                <a:cs typeface="Helvetica"/>
              </a:rPr>
              <a:t>Z= </a:t>
            </a:r>
            <a:r>
              <a:rPr lang="en-US" sz="2000" dirty="0" smtClean="0">
                <a:latin typeface="Helvetica"/>
                <a:cs typeface="Helvetica"/>
              </a:rPr>
              <a:t>0.46</a:t>
            </a:r>
            <a:endParaRPr lang="en-US" sz="2000" dirty="0">
              <a:latin typeface="Helvetica"/>
              <a:cs typeface="Helvetica"/>
            </a:endParaRPr>
          </a:p>
        </p:txBody>
      </p:sp>
      <p:sp>
        <p:nvSpPr>
          <p:cNvPr id="3" name="Oval 2"/>
          <p:cNvSpPr/>
          <p:nvPr/>
        </p:nvSpPr>
        <p:spPr>
          <a:xfrm>
            <a:off x="3203848" y="3068960"/>
            <a:ext cx="360040" cy="288032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4088" y="5013176"/>
            <a:ext cx="3168352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s-ES_tradnl" dirty="0" smtClean="0">
                <a:solidFill>
                  <a:srgbClr val="FF0000"/>
                </a:solidFill>
                <a:latin typeface="Helvetica"/>
                <a:cs typeface="Helvetica"/>
              </a:rPr>
              <a:t>¿Es e</a:t>
            </a:r>
            <a:r>
              <a:rPr lang="es-ES_tradnl" dirty="0" smtClean="0">
                <a:solidFill>
                  <a:srgbClr val="FF0000"/>
                </a:solidFill>
                <a:latin typeface="Helvetica"/>
                <a:cs typeface="Helvetica"/>
              </a:rPr>
              <a:t>ste el valor de probabilidad correcto?</a:t>
            </a:r>
            <a:endParaRPr lang="es-CL" dirty="0">
              <a:solidFill>
                <a:srgbClr val="FF0000"/>
              </a:solidFill>
              <a:latin typeface="Helvetica"/>
              <a:cs typeface="Helvetica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779912" y="3356992"/>
            <a:ext cx="1944216" cy="288032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4557" y="4089266"/>
            <a:ext cx="14040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Helvetica"/>
                <a:cs typeface="Helvetica"/>
              </a:rPr>
              <a:t>p </a:t>
            </a:r>
            <a:r>
              <a:rPr lang="en-US" sz="2000" dirty="0" smtClean="0">
                <a:latin typeface="Helvetica"/>
                <a:cs typeface="Helvetica"/>
              </a:rPr>
              <a:t>= </a:t>
            </a:r>
            <a:r>
              <a:rPr lang="es-ES_tradnl" sz="2000" dirty="0" smtClean="0">
                <a:latin typeface="Helvetica"/>
                <a:cs typeface="Helvetica"/>
              </a:rPr>
              <a:t>0.6772</a:t>
            </a:r>
          </a:p>
          <a:p>
            <a:pPr algn="ctr"/>
            <a:r>
              <a:rPr lang="es-ES_tradnl" sz="2000" dirty="0" smtClean="0">
                <a:latin typeface="Helvetica"/>
                <a:cs typeface="Helvetica"/>
              </a:rPr>
              <a:t>67.7%</a:t>
            </a:r>
            <a:endParaRPr lang="en-US" sz="20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43506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Screen Shot 2018-09-04 at 5.58.14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00"/>
          <a:stretch/>
        </p:blipFill>
        <p:spPr>
          <a:xfrm>
            <a:off x="179512" y="2112359"/>
            <a:ext cx="4825902" cy="448942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1520" y="836712"/>
            <a:ext cx="8784976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b="1" dirty="0">
                <a:latin typeface="Helvetica"/>
                <a:cs typeface="Helvetica"/>
              </a:rPr>
              <a:t>Ejemplo 2</a:t>
            </a:r>
            <a:r>
              <a:rPr lang="es-ES_tradnl" dirty="0">
                <a:latin typeface="Helvetica"/>
                <a:cs typeface="Helvetica"/>
              </a:rPr>
              <a:t>: La temperatura ambiental durante Septiembre está distribuida normalmente con µ=18.7ºC  y </a:t>
            </a:r>
            <a:r>
              <a:rPr lang="es-ES_tradnl" dirty="0" err="1">
                <a:latin typeface="Helvetica"/>
                <a:cs typeface="Helvetica"/>
              </a:rPr>
              <a:t>σ</a:t>
            </a:r>
            <a:r>
              <a:rPr lang="es-ES_tradnl" dirty="0">
                <a:latin typeface="Helvetica"/>
                <a:cs typeface="Helvetica"/>
              </a:rPr>
              <a:t> = 5ºC ¿Cual es la   probabilidad de que la temperatura durante septiembre esté por encima de los 21ºC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4128" y="4821540"/>
            <a:ext cx="2159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Helvetica"/>
                <a:cs typeface="Helvetica"/>
              </a:rPr>
              <a:t>Z = </a:t>
            </a:r>
            <a:r>
              <a:rPr lang="en-US" sz="2000" dirty="0" smtClean="0">
                <a:latin typeface="Helvetica"/>
                <a:cs typeface="Helvetica"/>
              </a:rPr>
              <a:t>(</a:t>
            </a:r>
            <a:r>
              <a:rPr lang="en-US" sz="2000" dirty="0" smtClean="0">
                <a:latin typeface="Helvetica"/>
                <a:cs typeface="Helvetica"/>
              </a:rPr>
              <a:t>21</a:t>
            </a:r>
            <a:r>
              <a:rPr lang="en-US" sz="2000" dirty="0" smtClean="0">
                <a:latin typeface="Helvetica"/>
                <a:cs typeface="Helvetica"/>
              </a:rPr>
              <a:t> </a:t>
            </a:r>
            <a:r>
              <a:rPr lang="mr-IN" sz="2000" dirty="0" smtClean="0">
                <a:latin typeface="Helvetica"/>
                <a:cs typeface="Helvetica"/>
              </a:rPr>
              <a:t>–</a:t>
            </a:r>
            <a:r>
              <a:rPr lang="en-US" sz="2000" dirty="0" smtClean="0">
                <a:latin typeface="Helvetica"/>
                <a:cs typeface="Helvetica"/>
              </a:rPr>
              <a:t>18.7</a:t>
            </a:r>
            <a:r>
              <a:rPr lang="en-US" sz="2000" dirty="0" smtClean="0">
                <a:latin typeface="Helvetica"/>
                <a:cs typeface="Helvetica"/>
              </a:rPr>
              <a:t>) </a:t>
            </a:r>
            <a:r>
              <a:rPr lang="en-US" sz="2000" dirty="0" smtClean="0">
                <a:latin typeface="Helvetica"/>
                <a:cs typeface="Helvetica"/>
              </a:rPr>
              <a:t>/ </a:t>
            </a:r>
            <a:r>
              <a:rPr lang="en-US" sz="2000" dirty="0">
                <a:latin typeface="Helvetica"/>
                <a:cs typeface="Helvetica"/>
              </a:rPr>
              <a:t>5</a:t>
            </a:r>
            <a:endParaRPr lang="en-US" sz="2000" dirty="0" smtClean="0">
              <a:latin typeface="Helvetica"/>
              <a:cs typeface="Helvetica"/>
            </a:endParaRPr>
          </a:p>
          <a:p>
            <a:pPr algn="ctr"/>
            <a:r>
              <a:rPr lang="en-US" sz="2000" dirty="0" smtClean="0">
                <a:latin typeface="Helvetica"/>
                <a:cs typeface="Helvetica"/>
              </a:rPr>
              <a:t>Z= </a:t>
            </a:r>
            <a:r>
              <a:rPr lang="en-US" sz="2000" dirty="0" smtClean="0">
                <a:latin typeface="Helvetica"/>
                <a:cs typeface="Helvetica"/>
              </a:rPr>
              <a:t>0.46</a:t>
            </a:r>
            <a:endParaRPr lang="en-US" sz="2000" dirty="0">
              <a:latin typeface="Helvetica"/>
              <a:cs typeface="Helvetica"/>
            </a:endParaRPr>
          </a:p>
        </p:txBody>
      </p:sp>
      <p:sp>
        <p:nvSpPr>
          <p:cNvPr id="3" name="Oval 2"/>
          <p:cNvSpPr/>
          <p:nvPr/>
        </p:nvSpPr>
        <p:spPr>
          <a:xfrm>
            <a:off x="3203848" y="3068960"/>
            <a:ext cx="360040" cy="288032"/>
          </a:xfrm>
          <a:prstGeom prst="ellipse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148064" y="2272804"/>
            <a:ext cx="3528392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s-ES_tradnl" dirty="0" smtClean="0">
                <a:latin typeface="Helvetica"/>
                <a:cs typeface="Helvetica"/>
              </a:rPr>
              <a:t>Este valor entrega la probabilidad de que ocurran temperaturas iguales o menores (desde - infinito) a Z = 0.46,</a:t>
            </a:r>
          </a:p>
          <a:p>
            <a:pPr algn="just"/>
            <a:endParaRPr lang="es-ES_tradnl" dirty="0">
              <a:latin typeface="Helvetica"/>
              <a:cs typeface="Helvetica"/>
            </a:endParaRPr>
          </a:p>
          <a:p>
            <a:pPr algn="just"/>
            <a:r>
              <a:rPr lang="es-ES_tradnl" dirty="0" smtClean="0">
                <a:latin typeface="Helvetica"/>
                <a:cs typeface="Helvetica"/>
              </a:rPr>
              <a:t>Entonces, la probabilidad de que la temperatura est</a:t>
            </a:r>
            <a:r>
              <a:rPr lang="es-ES_tradnl" dirty="0" smtClean="0">
                <a:latin typeface="Helvetica"/>
                <a:cs typeface="Helvetica"/>
              </a:rPr>
              <a:t>é por encima de los 21ºC es</a:t>
            </a:r>
            <a:r>
              <a:rPr lang="mr-IN" dirty="0" smtClean="0">
                <a:latin typeface="Helvetica"/>
                <a:cs typeface="Helvetica"/>
              </a:rPr>
              <a:t>…</a:t>
            </a:r>
            <a:endParaRPr lang="es-CL" dirty="0">
              <a:latin typeface="Helvetica"/>
              <a:cs typeface="Helvetica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635896" y="2636912"/>
            <a:ext cx="1512168" cy="504056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49356" y="5601434"/>
            <a:ext cx="23310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Helvetica"/>
                <a:cs typeface="Helvetica"/>
              </a:rPr>
              <a:t>1 </a:t>
            </a:r>
            <a:r>
              <a:rPr lang="mr-IN" sz="2000" dirty="0" smtClean="0">
                <a:latin typeface="Helvetica"/>
                <a:cs typeface="Helvetica"/>
              </a:rPr>
              <a:t>–</a:t>
            </a:r>
            <a:r>
              <a:rPr lang="es-ES_tradnl" sz="2000" dirty="0" smtClean="0">
                <a:latin typeface="Helvetica"/>
                <a:cs typeface="Helvetica"/>
              </a:rPr>
              <a:t> 0.673 = 0.3228</a:t>
            </a:r>
          </a:p>
          <a:p>
            <a:pPr algn="ctr"/>
            <a:r>
              <a:rPr lang="es-ES_tradnl" sz="2000" dirty="0" smtClean="0">
                <a:latin typeface="Helvetica"/>
                <a:cs typeface="Helvetica"/>
              </a:rPr>
              <a:t>32.28%</a:t>
            </a:r>
            <a:endParaRPr lang="en-US" sz="20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418919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10" grpId="0" animBg="1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Distribución normal estandarizada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51520" y="836712"/>
            <a:ext cx="8784976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b="1" dirty="0">
                <a:latin typeface="Helvetica"/>
                <a:cs typeface="Helvetica"/>
              </a:rPr>
              <a:t>Ejemplo </a:t>
            </a:r>
            <a:r>
              <a:rPr lang="es-ES_tradnl" b="1" dirty="0" smtClean="0">
                <a:latin typeface="Helvetica"/>
                <a:cs typeface="Helvetica"/>
              </a:rPr>
              <a:t>3</a:t>
            </a:r>
            <a:r>
              <a:rPr lang="es-ES_tradnl" dirty="0" smtClean="0">
                <a:latin typeface="Helvetica"/>
                <a:cs typeface="Helvetica"/>
              </a:rPr>
              <a:t>: La masa corporal de 5000 estudiantes de la Universidad Mayor se distribuye de forma normal con µ=70 Kg  y </a:t>
            </a:r>
            <a:r>
              <a:rPr lang="es-ES_tradnl" dirty="0" err="1" smtClean="0">
                <a:latin typeface="Helvetica"/>
                <a:cs typeface="Helvetica"/>
              </a:rPr>
              <a:t>σ</a:t>
            </a:r>
            <a:r>
              <a:rPr lang="es-ES_tradnl" dirty="0" smtClean="0">
                <a:latin typeface="Helvetica"/>
                <a:cs typeface="Helvetica"/>
              </a:rPr>
              <a:t> = 3Kg ¿Cuántos alumnos pesan menos de 60 Kg?</a:t>
            </a:r>
            <a:endParaRPr lang="es-ES_tradnl" dirty="0">
              <a:latin typeface="Helvetica"/>
              <a:cs typeface="Helvetic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87824" y="2341329"/>
            <a:ext cx="19453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Helvetica"/>
                <a:cs typeface="Helvetica"/>
              </a:rPr>
              <a:t>Z = </a:t>
            </a:r>
            <a:r>
              <a:rPr lang="en-US" sz="2000" dirty="0" smtClean="0">
                <a:latin typeface="Helvetica"/>
                <a:cs typeface="Helvetica"/>
              </a:rPr>
              <a:t>(60 </a:t>
            </a:r>
            <a:r>
              <a:rPr lang="mr-IN" sz="2000" dirty="0" smtClean="0">
                <a:latin typeface="Helvetica"/>
                <a:cs typeface="Helvetica"/>
              </a:rPr>
              <a:t>–</a:t>
            </a:r>
            <a:r>
              <a:rPr lang="en-US" sz="2000" dirty="0" smtClean="0">
                <a:latin typeface="Helvetica"/>
                <a:cs typeface="Helvetica"/>
              </a:rPr>
              <a:t>70) </a:t>
            </a:r>
            <a:r>
              <a:rPr lang="en-US" sz="2000" dirty="0" smtClean="0">
                <a:latin typeface="Helvetica"/>
                <a:cs typeface="Helvetica"/>
              </a:rPr>
              <a:t>/ </a:t>
            </a:r>
            <a:r>
              <a:rPr lang="en-US" sz="2000" dirty="0" smtClean="0">
                <a:latin typeface="Helvetica"/>
                <a:cs typeface="Helvetica"/>
              </a:rPr>
              <a:t>3</a:t>
            </a:r>
            <a:endParaRPr lang="en-US" sz="2000" dirty="0" smtClean="0">
              <a:latin typeface="Helvetica"/>
              <a:cs typeface="Helvetica"/>
            </a:endParaRPr>
          </a:p>
          <a:p>
            <a:pPr algn="ctr"/>
            <a:r>
              <a:rPr lang="en-US" sz="2000" dirty="0" smtClean="0">
                <a:latin typeface="Helvetica"/>
                <a:cs typeface="Helvetica"/>
              </a:rPr>
              <a:t>Z = </a:t>
            </a:r>
            <a:r>
              <a:rPr lang="en-US" sz="2000" dirty="0" smtClean="0">
                <a:latin typeface="Helvetica"/>
                <a:cs typeface="Helvetica"/>
              </a:rPr>
              <a:t>-3.33</a:t>
            </a:r>
          </a:p>
          <a:p>
            <a:pPr algn="ctr"/>
            <a:r>
              <a:rPr lang="en-US" sz="2000" dirty="0">
                <a:latin typeface="Helvetica"/>
                <a:cs typeface="Helvetica"/>
              </a:rPr>
              <a:t>p</a:t>
            </a:r>
            <a:r>
              <a:rPr lang="en-US" sz="2000" dirty="0" smtClean="0">
                <a:latin typeface="Helvetica"/>
                <a:cs typeface="Helvetica"/>
              </a:rPr>
              <a:t> = 0.0004 </a:t>
            </a:r>
            <a:endParaRPr lang="en-US" sz="2000" dirty="0">
              <a:latin typeface="Helvetica"/>
              <a:cs typeface="Helvetic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2200" y="2348880"/>
            <a:ext cx="259228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smtClean="0">
                <a:latin typeface="Helvetica"/>
                <a:cs typeface="Helvetica"/>
              </a:rPr>
              <a:t>El 0,04 % de los 500 estudiantes pesan menos de 60 Kg. </a:t>
            </a:r>
          </a:p>
          <a:p>
            <a:endParaRPr lang="es-CL" sz="2000" dirty="0" smtClean="0"/>
          </a:p>
        </p:txBody>
      </p:sp>
      <p:pic>
        <p:nvPicPr>
          <p:cNvPr id="12" name="Picture 11" descr="Screen Shot 2018-09-04 at 5.09.27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9" t="9660" r="2309" b="22249"/>
          <a:stretch/>
        </p:blipFill>
        <p:spPr>
          <a:xfrm>
            <a:off x="251520" y="2420888"/>
            <a:ext cx="2099314" cy="9200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99792" y="4005064"/>
            <a:ext cx="2266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latin typeface="Helvetica"/>
                <a:cs typeface="Helvetica"/>
              </a:rPr>
              <a:t>5000 + 0.0004 </a:t>
            </a:r>
            <a:r>
              <a:rPr lang="en-US" sz="2000" dirty="0" smtClean="0">
                <a:latin typeface="Helvetica"/>
                <a:cs typeface="Helvetica"/>
              </a:rPr>
              <a:t>= </a:t>
            </a:r>
            <a:r>
              <a:rPr lang="es-ES_tradnl" sz="2000" dirty="0" smtClean="0">
                <a:latin typeface="Helvetica"/>
                <a:cs typeface="Helvetica"/>
              </a:rPr>
              <a:t>2</a:t>
            </a:r>
            <a:endParaRPr lang="en-US" sz="2000" dirty="0" smtClean="0">
              <a:latin typeface="Helvetica"/>
              <a:cs typeface="Helvetic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00192" y="4017838"/>
            <a:ext cx="26642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>
                <a:latin typeface="Helvetica"/>
                <a:cs typeface="Helvetica"/>
              </a:rPr>
              <a:t>Solo 2 estudiantes pesan menos de 60 Kg. </a:t>
            </a:r>
            <a:endParaRPr lang="es-CL" dirty="0">
              <a:latin typeface="Helvetica"/>
              <a:cs typeface="Helvetica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148064" y="2852936"/>
            <a:ext cx="864096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148064" y="4293277"/>
            <a:ext cx="864096" cy="0"/>
          </a:xfrm>
          <a:prstGeom prst="straightConnector1">
            <a:avLst/>
          </a:prstGeom>
          <a:ln w="28575" cmpd="sng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4267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 txBox="1">
            <a:spLocks/>
          </p:cNvSpPr>
          <p:nvPr/>
        </p:nvSpPr>
        <p:spPr bwMode="auto">
          <a:xfrm>
            <a:off x="688032" y="2693987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bIns="91440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s-ES" sz="5000" dirty="0" smtClean="0">
                <a:solidFill>
                  <a:schemeClr val="tx2"/>
                </a:solidFill>
                <a:latin typeface="Franklin Gothic Book" charset="0"/>
              </a:rPr>
              <a:t>Prueba de hip</a:t>
            </a:r>
            <a:r>
              <a:rPr lang="es-ES" sz="5000" dirty="0" smtClean="0">
                <a:solidFill>
                  <a:schemeClr val="tx2"/>
                </a:solidFill>
                <a:latin typeface="Franklin Gothic Book" charset="0"/>
              </a:rPr>
              <a:t>ótesis</a:t>
            </a:r>
            <a:endParaRPr lang="es-ES" sz="5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  <a:p>
            <a:pPr algn="ctr"/>
            <a:endParaRPr lang="es-ES" sz="4000" dirty="0">
              <a:solidFill>
                <a:schemeClr val="tx2"/>
              </a:solidFill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163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755576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¿Que hacemos con los datos?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"/>
          </p:nvPr>
        </p:nvSpPr>
        <p:spPr>
          <a:xfrm>
            <a:off x="827584" y="1340768"/>
            <a:ext cx="8136904" cy="3097212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sk-SK" dirty="0">
                <a:solidFill>
                  <a:srgbClr val="FF6600"/>
                </a:solidFill>
                <a:latin typeface="Arial" charset="0"/>
                <a:cs typeface="Arial" charset="0"/>
              </a:rPr>
              <a:t>1.  </a:t>
            </a:r>
            <a:r>
              <a:rPr lang="sk-SK" b="1" dirty="0">
                <a:latin typeface="Arial" charset="0"/>
                <a:cs typeface="Arial" charset="0"/>
              </a:rPr>
              <a:t>Recolección de datos</a:t>
            </a:r>
          </a:p>
          <a:p>
            <a:pPr marL="893763" indent="0">
              <a:lnSpc>
                <a:spcPct val="140000"/>
              </a:lnSpc>
              <a:buNone/>
            </a:pPr>
            <a:r>
              <a:rPr lang="sk-SK" sz="2400" dirty="0">
                <a:latin typeface="Arial" charset="0"/>
                <a:cs typeface="Arial" charset="0"/>
              </a:rPr>
              <a:t>Investigación informal  /  Estudio observacional  / Experimento </a:t>
            </a:r>
            <a:r>
              <a:rPr lang="sk-SK" sz="2400" dirty="0" smtClean="0">
                <a:latin typeface="Arial" charset="0"/>
                <a:cs typeface="Arial" charset="0"/>
              </a:rPr>
              <a:t>formal.</a:t>
            </a:r>
            <a:endParaRPr lang="sk-SK" sz="2400" dirty="0">
              <a:latin typeface="Arial" charset="0"/>
              <a:cs typeface="Arial" charset="0"/>
            </a:endParaRPr>
          </a:p>
          <a:p>
            <a:pPr marL="447675" indent="-447675">
              <a:lnSpc>
                <a:spcPct val="140000"/>
              </a:lnSpc>
              <a:buNone/>
            </a:pPr>
            <a:r>
              <a:rPr lang="sk-SK" dirty="0">
                <a:solidFill>
                  <a:srgbClr val="FF6600"/>
                </a:solidFill>
                <a:latin typeface="Arial" charset="0"/>
                <a:cs typeface="Arial" charset="0"/>
              </a:rPr>
              <a:t>2.</a:t>
            </a:r>
            <a:r>
              <a:rPr lang="sk-SK" dirty="0">
                <a:latin typeface="Arial" charset="0"/>
                <a:cs typeface="Arial" charset="0"/>
              </a:rPr>
              <a:t>  </a:t>
            </a:r>
            <a:r>
              <a:rPr lang="sk-SK" b="1" dirty="0">
                <a:latin typeface="Arial" charset="0"/>
                <a:cs typeface="Arial" charset="0"/>
              </a:rPr>
              <a:t>Estadística descriptiva</a:t>
            </a:r>
            <a:r>
              <a:rPr lang="sk-SK" sz="2400" dirty="0">
                <a:latin typeface="Arial" charset="0"/>
                <a:cs typeface="Arial" charset="0"/>
              </a:rPr>
              <a:t>: Métodos para organizar, resumir y darle sentido a un grupo de datos de forma </a:t>
            </a:r>
            <a:r>
              <a:rPr lang="sk-SK" sz="2400" dirty="0" smtClean="0">
                <a:latin typeface="Arial" charset="0"/>
                <a:cs typeface="Arial" charset="0"/>
              </a:rPr>
              <a:t>informativa.</a:t>
            </a:r>
            <a:endParaRPr lang="sk-SK" sz="2400" dirty="0">
              <a:latin typeface="Arial" charset="0"/>
              <a:cs typeface="Arial" charset="0"/>
            </a:endParaRPr>
          </a:p>
          <a:p>
            <a:pPr marL="447675" indent="-447675">
              <a:lnSpc>
                <a:spcPct val="140000"/>
              </a:lnSpc>
              <a:buNone/>
            </a:pPr>
            <a:r>
              <a:rPr lang="sk-SK" dirty="0">
                <a:solidFill>
                  <a:srgbClr val="FF6600"/>
                </a:solidFill>
                <a:latin typeface="Arial" charset="0"/>
                <a:cs typeface="Arial" charset="0"/>
              </a:rPr>
              <a:t>3.  </a:t>
            </a:r>
            <a:r>
              <a:rPr lang="sk-SK" b="1" dirty="0">
                <a:latin typeface="Arial" charset="0"/>
                <a:cs typeface="Arial" charset="0"/>
              </a:rPr>
              <a:t>Estadística inferencial</a:t>
            </a:r>
            <a:r>
              <a:rPr lang="sk-SK" sz="2400" dirty="0">
                <a:latin typeface="Arial" charset="0"/>
                <a:cs typeface="Arial" charset="0"/>
              </a:rPr>
              <a:t>: Métodos empleados para determinar la probabilidad de un fenómeno en la población basado en una </a:t>
            </a:r>
            <a:r>
              <a:rPr lang="sk-SK" sz="2400" dirty="0" smtClean="0">
                <a:latin typeface="Arial" charset="0"/>
                <a:cs typeface="Arial" charset="0"/>
              </a:rPr>
              <a:t>muestra.</a:t>
            </a:r>
            <a:endParaRPr lang="sk-SK" sz="2400" dirty="0">
              <a:latin typeface="Perpetu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3639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-540568" y="980728"/>
            <a:ext cx="9540552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charset="0"/>
              <a:buChar char=""/>
              <a:defRPr sz="26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charset="0"/>
              <a:buChar char=""/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charset="0"/>
              <a:buChar char="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r>
              <a:rPr lang="es-ES_tradnl" sz="2000" b="1" dirty="0" smtClean="0">
                <a:latin typeface="Helvetica"/>
                <a:cs typeface="Helvetica"/>
              </a:rPr>
              <a:t>Definici</a:t>
            </a:r>
            <a:r>
              <a:rPr lang="es-ES_tradnl" sz="2000" b="1" dirty="0" smtClean="0">
                <a:latin typeface="Helvetica"/>
                <a:cs typeface="Helvetica"/>
              </a:rPr>
              <a:t>ón</a:t>
            </a:r>
            <a:r>
              <a:rPr lang="es-ES_tradnl" sz="2000" dirty="0">
                <a:latin typeface="Helvetica"/>
                <a:cs typeface="Helvetica"/>
              </a:rPr>
              <a:t>: El proceso de llegar a conclusiones sobre una </a:t>
            </a:r>
            <a:r>
              <a:rPr lang="es-ES_tradnl" sz="2000" dirty="0">
                <a:solidFill>
                  <a:srgbClr val="FF0000"/>
                </a:solidFill>
                <a:latin typeface="Helvetica"/>
                <a:cs typeface="Helvetica"/>
              </a:rPr>
              <a:t>población </a:t>
            </a:r>
            <a:r>
              <a:rPr lang="es-ES_tradnl" sz="2000" dirty="0">
                <a:latin typeface="Helvetica"/>
                <a:cs typeface="Helvetica"/>
              </a:rPr>
              <a:t>basado en resultados observados en una </a:t>
            </a:r>
            <a:r>
              <a:rPr lang="es-ES_tradnl" sz="2000" dirty="0">
                <a:solidFill>
                  <a:srgbClr val="3366FF"/>
                </a:solidFill>
                <a:latin typeface="Helvetica"/>
                <a:cs typeface="Helvetica"/>
              </a:rPr>
              <a:t>muestra</a:t>
            </a:r>
            <a:r>
              <a:rPr lang="es-ES_tradnl" sz="2000" dirty="0">
                <a:latin typeface="Helvetica"/>
                <a:cs typeface="Helvetica"/>
              </a:rPr>
              <a:t>, teniendo en cuenta la presencia de variación e incertidumbre.</a:t>
            </a: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 smtClean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725488" lvl="1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000" dirty="0">
              <a:latin typeface="Helvetica"/>
              <a:cs typeface="Helvetica"/>
            </a:endParaRPr>
          </a:p>
          <a:p>
            <a:pPr marL="1182688" lvl="1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2200" dirty="0" smtClean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2200" dirty="0">
              <a:latin typeface="Helvetica"/>
              <a:cs typeface="Helvetica"/>
            </a:endParaRPr>
          </a:p>
          <a:p>
            <a:pPr marL="450850" indent="0" eaLnBrk="1" hangingPunct="1">
              <a:lnSpc>
                <a:spcPct val="150000"/>
              </a:lnSpc>
              <a:buClr>
                <a:srgbClr val="FF6600"/>
              </a:buClr>
              <a:buNone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 smtClean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Helvetica"/>
              <a:cs typeface="Helvetica"/>
            </a:endParaRPr>
          </a:p>
          <a:p>
            <a:pPr marL="908050" indent="-457200" eaLnBrk="1" hangingPunct="1">
              <a:lnSpc>
                <a:spcPct val="150000"/>
              </a:lnSpc>
              <a:buClr>
                <a:srgbClr val="FF6600"/>
              </a:buClr>
              <a:buFont typeface="Wingdings" charset="2"/>
              <a:buChar char="ü"/>
            </a:pPr>
            <a:endParaRPr lang="es-ES_tradnl" sz="1800" dirty="0">
              <a:latin typeface="Arial" charset="0"/>
              <a:cs typeface="Arial" charset="0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 bwMode="auto">
          <a:xfrm>
            <a:off x="107504" y="255786"/>
            <a:ext cx="8928992" cy="72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 eaLnBrk="1" hangingPunct="1"/>
            <a:r>
              <a:rPr lang="es-ES_tradnl" dirty="0" smtClean="0">
                <a:latin typeface="Franklin Gothic Book" charset="0"/>
              </a:rPr>
              <a:t>Estadística inferencial</a:t>
            </a:r>
            <a:endParaRPr lang="es-ES_tradnl" dirty="0">
              <a:latin typeface="Franklin Gothic Book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42947" y="287693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Screen Shot 2018-09-05 at 10.58.53 AM (2)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7" t="13777" r="15394" b="21225"/>
          <a:stretch/>
        </p:blipFill>
        <p:spPr>
          <a:xfrm>
            <a:off x="1115616" y="2636912"/>
            <a:ext cx="7128792" cy="367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084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>
                <a:latin typeface="Franklin Gothic Book" charset="0"/>
              </a:rPr>
              <a:t>Estadística Inferencial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341438"/>
            <a:ext cx="4894263" cy="453231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es-CL" sz="2800" dirty="0" smtClean="0">
                <a:latin typeface="Arial"/>
                <a:cs typeface="Arial"/>
              </a:rPr>
              <a:t>Estimación</a:t>
            </a:r>
          </a:p>
          <a:p>
            <a:pPr marL="446088" lvl="1" eaLnBrk="1" hangingPunct="1">
              <a:lnSpc>
                <a:spcPct val="120000"/>
              </a:lnSpc>
              <a:defRPr/>
            </a:pPr>
            <a:r>
              <a:rPr lang="es-CL" dirty="0" smtClean="0">
                <a:latin typeface="Arial"/>
                <a:cs typeface="Arial"/>
              </a:rPr>
              <a:t>p.ej., Estimar peso promedio de una población empleando el peso promedio de la muestra</a:t>
            </a:r>
          </a:p>
          <a:p>
            <a:pPr marL="673100" lvl="1" indent="0" eaLnBrk="1" hangingPunct="1">
              <a:lnSpc>
                <a:spcPct val="120000"/>
              </a:lnSpc>
              <a:buFont typeface="Wingdings 2" charset="0"/>
              <a:buNone/>
              <a:defRPr/>
            </a:pPr>
            <a:endParaRPr lang="es-CL" dirty="0" smtClean="0">
              <a:latin typeface="Arial"/>
              <a:cs typeface="Arial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es-CL" sz="2800" dirty="0" smtClean="0">
                <a:latin typeface="Arial"/>
                <a:cs typeface="Arial"/>
              </a:rPr>
              <a:t>Prueba de hipótesis</a:t>
            </a:r>
          </a:p>
          <a:p>
            <a:pPr marL="446088" lvl="1" defTabSz="439738" eaLnBrk="1" hangingPunct="1">
              <a:lnSpc>
                <a:spcPct val="120000"/>
              </a:lnSpc>
              <a:defRPr/>
            </a:pPr>
            <a:r>
              <a:rPr lang="es-CL" dirty="0" smtClean="0">
                <a:latin typeface="Arial"/>
                <a:cs typeface="Arial"/>
              </a:rPr>
              <a:t>p.ej., Poner a prueba la hipótesis de que los hombres son más altos que las mujeres</a:t>
            </a:r>
            <a:endParaRPr lang="es-CL" dirty="0">
              <a:latin typeface="Arial"/>
              <a:cs typeface="Arial"/>
            </a:endParaRPr>
          </a:p>
        </p:txBody>
      </p:sp>
      <p:pic>
        <p:nvPicPr>
          <p:cNvPr id="21507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15"/>
          <a:stretch>
            <a:fillRect/>
          </a:stretch>
        </p:blipFill>
        <p:spPr bwMode="auto">
          <a:xfrm>
            <a:off x="5684838" y="1484313"/>
            <a:ext cx="3351212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15" b="14957"/>
          <a:stretch>
            <a:fillRect/>
          </a:stretch>
        </p:blipFill>
        <p:spPr bwMode="auto">
          <a:xfrm>
            <a:off x="5684838" y="3860800"/>
            <a:ext cx="3351212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21747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5536" y="2636912"/>
            <a:ext cx="8496944" cy="1944216"/>
          </a:xfrm>
          <a:prstGeom prst="roundRect">
            <a:avLst/>
          </a:prstGeom>
          <a:solidFill>
            <a:srgbClr val="8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5536" y="1052736"/>
            <a:ext cx="8496944" cy="373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 smtClean="0">
                <a:latin typeface="Helvetica"/>
                <a:cs typeface="Helvetica"/>
              </a:rPr>
              <a:t>Ejemplo</a:t>
            </a:r>
            <a:r>
              <a:rPr lang="es-CL" sz="2600" dirty="0" smtClean="0">
                <a:latin typeface="Helvetica"/>
                <a:cs typeface="Helvetica"/>
              </a:rPr>
              <a:t>: </a:t>
            </a:r>
            <a:r>
              <a:rPr lang="es-CL" sz="2400" dirty="0" smtClean="0">
                <a:latin typeface="Helvetica"/>
                <a:cs typeface="Helvetica"/>
              </a:rPr>
              <a:t>Seleccionamos 5 hombres y 5 mujeres de forma aleatoria y comparamos su altura promedio. </a:t>
            </a:r>
          </a:p>
          <a:p>
            <a:pPr>
              <a:lnSpc>
                <a:spcPct val="120000"/>
              </a:lnSpc>
            </a:pPr>
            <a:endParaRPr lang="es-CL" sz="2400" i="1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400" i="1" dirty="0" smtClean="0">
              <a:latin typeface="Helvetica"/>
              <a:cs typeface="Helvetica"/>
            </a:endParaRPr>
          </a:p>
          <a:p>
            <a:pPr marL="439738">
              <a:lnSpc>
                <a:spcPct val="120000"/>
              </a:lnSpc>
            </a:pPr>
            <a:r>
              <a:rPr lang="es-CL" sz="2400" dirty="0" smtClean="0">
                <a:latin typeface="Helvetica"/>
                <a:cs typeface="Helvetica"/>
              </a:rPr>
              <a:t>Encontramos que las mujeres son más altas que los hombres en esa muestra. ¿Podemos inferir que las mujeres son más altas que los hombres en la población? </a:t>
            </a:r>
          </a:p>
          <a:p>
            <a:pPr>
              <a:lnSpc>
                <a:spcPct val="120000"/>
              </a:lnSpc>
            </a:pPr>
            <a:endParaRPr lang="es-CL" sz="2800" i="1" dirty="0" smtClean="0">
              <a:solidFill>
                <a:srgbClr val="00009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71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/>
          <p:cNvGrpSpPr/>
          <p:nvPr/>
        </p:nvGrpSpPr>
        <p:grpSpPr>
          <a:xfrm>
            <a:off x="1835696" y="3481590"/>
            <a:ext cx="5813273" cy="3331786"/>
            <a:chOff x="1835696" y="3481590"/>
            <a:chExt cx="5813273" cy="3331786"/>
          </a:xfrm>
        </p:grpSpPr>
        <p:pic>
          <p:nvPicPr>
            <p:cNvPr id="126" name="Picture 125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8" t="13073" b="17771"/>
            <a:stretch/>
          </p:blipFill>
          <p:spPr bwMode="auto">
            <a:xfrm>
              <a:off x="1835696" y="3481590"/>
              <a:ext cx="5813273" cy="25396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4211960" y="6326063"/>
              <a:ext cx="2160240" cy="4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200" dirty="0" err="1" smtClean="0"/>
                <a:t>Altura</a:t>
              </a:r>
              <a:r>
                <a:rPr lang="en-US" sz="2200" dirty="0" smtClean="0"/>
                <a:t> (cm)</a:t>
              </a:r>
              <a:endParaRPr lang="en-US" sz="2200" i="1" dirty="0">
                <a:latin typeface="Arial"/>
                <a:cs typeface="Arial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195736" y="5988913"/>
              <a:ext cx="5400600" cy="39241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buClr>
                  <a:srgbClr val="FF6600"/>
                </a:buClr>
              </a:pPr>
              <a:r>
                <a:rPr lang="en-US" dirty="0" smtClean="0">
                  <a:latin typeface="Arial"/>
                  <a:cs typeface="Arial"/>
                </a:rPr>
                <a:t>140      150      160       170       180        190      200</a:t>
              </a: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4811189" y="3484728"/>
              <a:ext cx="377999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395536" y="1052736"/>
            <a:ext cx="8496944" cy="5764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 err="1" smtClean="0">
                <a:latin typeface="Helvetica"/>
                <a:cs typeface="Helvetica"/>
              </a:rPr>
              <a:t>Ejemplo</a:t>
            </a:r>
            <a:r>
              <a:rPr lang="en-US" sz="2600" dirty="0" smtClean="0">
                <a:latin typeface="Helvetica"/>
                <a:cs typeface="Helvetica"/>
              </a:rPr>
              <a:t>: </a:t>
            </a:r>
            <a:r>
              <a:rPr lang="en-US" sz="2400" dirty="0" err="1" smtClean="0">
                <a:latin typeface="Helvetica"/>
                <a:cs typeface="Helvetica"/>
              </a:rPr>
              <a:t>Seleccionamos</a:t>
            </a:r>
            <a:r>
              <a:rPr lang="en-US" sz="2400" dirty="0" smtClean="0">
                <a:latin typeface="Helvetica"/>
                <a:cs typeface="Helvetica"/>
              </a:rPr>
              <a:t> 5 hombres y 5 </a:t>
            </a:r>
            <a:r>
              <a:rPr lang="en-US" sz="2400" dirty="0" err="1" smtClean="0">
                <a:latin typeface="Helvetica"/>
                <a:cs typeface="Helvetica"/>
              </a:rPr>
              <a:t>mujeres</a:t>
            </a:r>
            <a:r>
              <a:rPr lang="en-US" sz="2400" dirty="0" smtClean="0">
                <a:latin typeface="Helvetica"/>
                <a:cs typeface="Helvetica"/>
              </a:rPr>
              <a:t> de forma </a:t>
            </a:r>
            <a:r>
              <a:rPr lang="en-US" sz="2400" dirty="0" err="1" smtClean="0">
                <a:latin typeface="Helvetica"/>
                <a:cs typeface="Helvetica"/>
              </a:rPr>
              <a:t>aleatoria</a:t>
            </a:r>
            <a:r>
              <a:rPr lang="en-US" sz="2400" dirty="0" smtClean="0">
                <a:latin typeface="Helvetica"/>
                <a:cs typeface="Helvetica"/>
              </a:rPr>
              <a:t> y </a:t>
            </a:r>
            <a:r>
              <a:rPr lang="en-US" sz="2400" dirty="0" err="1" smtClean="0">
                <a:latin typeface="Helvetica"/>
                <a:cs typeface="Helvetica"/>
              </a:rPr>
              <a:t>comparamos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su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altura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promedio</a:t>
            </a:r>
            <a:r>
              <a:rPr lang="en-US" sz="2400" dirty="0" smtClean="0">
                <a:latin typeface="Helvetica"/>
                <a:cs typeface="Helvetica"/>
              </a:rPr>
              <a:t>. </a:t>
            </a:r>
          </a:p>
          <a:p>
            <a:pPr>
              <a:lnSpc>
                <a:spcPct val="120000"/>
              </a:lnSpc>
            </a:pPr>
            <a:endParaRPr lang="en-US" sz="1000" i="1" dirty="0" smtClean="0"/>
          </a:p>
          <a:p>
            <a:pPr>
              <a:lnSpc>
                <a:spcPct val="110000"/>
              </a:lnSpc>
            </a:pPr>
            <a:r>
              <a:rPr lang="en-US" i="1" dirty="0" err="1" smtClean="0">
                <a:solidFill>
                  <a:schemeClr val="bg1"/>
                </a:solidFill>
              </a:rPr>
              <a:t>Muestreo</a:t>
            </a:r>
            <a:r>
              <a:rPr lang="en-US" i="1" dirty="0" smtClean="0">
                <a:solidFill>
                  <a:schemeClr val="bg1"/>
                </a:solidFill>
              </a:rPr>
              <a:t> 1					</a:t>
            </a:r>
            <a:r>
              <a:rPr lang="en-US" i="1" dirty="0">
                <a:solidFill>
                  <a:schemeClr val="bg1"/>
                </a:solidFill>
              </a:rPr>
              <a:t>	</a:t>
            </a:r>
            <a:r>
              <a:rPr lang="en-US" i="1" dirty="0" smtClean="0">
                <a:solidFill>
                  <a:schemeClr val="bg1"/>
                </a:solidFill>
              </a:rPr>
              <a:t>	M &gt; H</a:t>
            </a:r>
          </a:p>
          <a:p>
            <a:pPr>
              <a:lnSpc>
                <a:spcPct val="110000"/>
              </a:lnSpc>
            </a:pPr>
            <a:r>
              <a:rPr lang="en-US" i="1" dirty="0" err="1" smtClean="0">
                <a:solidFill>
                  <a:schemeClr val="bg1"/>
                </a:solidFill>
              </a:rPr>
              <a:t>Muestreo</a:t>
            </a:r>
            <a:r>
              <a:rPr lang="en-US" i="1" dirty="0" smtClean="0">
                <a:solidFill>
                  <a:schemeClr val="bg1"/>
                </a:solidFill>
              </a:rPr>
              <a:t> 2							M &lt; H</a:t>
            </a:r>
          </a:p>
          <a:p>
            <a:pPr>
              <a:lnSpc>
                <a:spcPct val="110000"/>
              </a:lnSpc>
            </a:pPr>
            <a:r>
              <a:rPr lang="en-US" i="1" dirty="0" err="1">
                <a:solidFill>
                  <a:schemeClr val="bg1"/>
                </a:solidFill>
              </a:rPr>
              <a:t>Muestreo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smtClean="0">
                <a:solidFill>
                  <a:schemeClr val="bg1"/>
                </a:solidFill>
              </a:rPr>
              <a:t>3							M &lt; H</a:t>
            </a:r>
          </a:p>
          <a:p>
            <a:pPr>
              <a:lnSpc>
                <a:spcPct val="110000"/>
              </a:lnSpc>
            </a:pPr>
            <a:endParaRPr lang="en-US" i="1" dirty="0"/>
          </a:p>
          <a:p>
            <a:pPr>
              <a:lnSpc>
                <a:spcPct val="110000"/>
              </a:lnSpc>
            </a:pPr>
            <a:endParaRPr lang="en-US" i="1" dirty="0" smtClean="0"/>
          </a:p>
          <a:p>
            <a:pPr>
              <a:lnSpc>
                <a:spcPct val="110000"/>
              </a:lnSpc>
            </a:pPr>
            <a:endParaRPr lang="en-US" i="1" dirty="0"/>
          </a:p>
          <a:p>
            <a:pPr>
              <a:lnSpc>
                <a:spcPct val="110000"/>
              </a:lnSpc>
            </a:pPr>
            <a:endParaRPr lang="en-US" i="1" dirty="0" smtClean="0"/>
          </a:p>
          <a:p>
            <a:pPr>
              <a:lnSpc>
                <a:spcPct val="110000"/>
              </a:lnSpc>
            </a:pPr>
            <a:endParaRPr lang="en-US" i="1" dirty="0"/>
          </a:p>
          <a:p>
            <a:pPr>
              <a:lnSpc>
                <a:spcPct val="110000"/>
              </a:lnSpc>
            </a:pPr>
            <a:r>
              <a:rPr lang="en-US" sz="2800" i="1" dirty="0" err="1" smtClean="0"/>
              <a:t>Población</a:t>
            </a:r>
            <a:endParaRPr lang="en-US" sz="2800" i="1" dirty="0"/>
          </a:p>
          <a:p>
            <a:pPr>
              <a:lnSpc>
                <a:spcPct val="90000"/>
              </a:lnSpc>
            </a:pPr>
            <a:endParaRPr lang="es-ES_tradnl" i="1" dirty="0"/>
          </a:p>
          <a:p>
            <a:pPr>
              <a:lnSpc>
                <a:spcPct val="90000"/>
              </a:lnSpc>
            </a:pPr>
            <a:endParaRPr lang="es-ES_tradnl" i="1" dirty="0" smtClean="0"/>
          </a:p>
          <a:p>
            <a:pPr>
              <a:lnSpc>
                <a:spcPct val="90000"/>
              </a:lnSpc>
            </a:pPr>
            <a:endParaRPr lang="es-ES_tradnl" i="1" dirty="0"/>
          </a:p>
          <a:p>
            <a:pPr>
              <a:lnSpc>
                <a:spcPct val="90000"/>
              </a:lnSpc>
            </a:pPr>
            <a:endParaRPr lang="es-ES_tradnl" i="1" dirty="0" smtClean="0"/>
          </a:p>
          <a:p>
            <a:pPr>
              <a:lnSpc>
                <a:spcPct val="120000"/>
              </a:lnSpc>
            </a:pPr>
            <a:endParaRPr lang="en-US" i="1" dirty="0"/>
          </a:p>
          <a:p>
            <a:pPr>
              <a:lnSpc>
                <a:spcPct val="120000"/>
              </a:lnSpc>
            </a:pPr>
            <a:endParaRPr lang="en-US" i="1" dirty="0" smtClean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372200" y="4016677"/>
            <a:ext cx="5070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H</a:t>
            </a:r>
            <a:endParaRPr lang="en-US" sz="2600" i="1" dirty="0"/>
          </a:p>
        </p:txBody>
      </p:sp>
      <p:cxnSp>
        <p:nvCxnSpPr>
          <p:cNvPr id="131" name="Straight Connector 130"/>
          <p:cNvCxnSpPr/>
          <p:nvPr/>
        </p:nvCxnSpPr>
        <p:spPr>
          <a:xfrm flipH="1">
            <a:off x="5724128" y="4509120"/>
            <a:ext cx="648072" cy="50405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H="1" flipV="1">
            <a:off x="3131840" y="4005064"/>
            <a:ext cx="792088" cy="93610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2768794" y="3512621"/>
            <a:ext cx="5440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M</a:t>
            </a:r>
            <a:endParaRPr lang="en-US" sz="2600" i="1" dirty="0"/>
          </a:p>
        </p:txBody>
      </p:sp>
    </p:spTree>
    <p:extLst>
      <p:ext uri="{BB962C8B-B14F-4D97-AF65-F5344CB8AC3E}">
        <p14:creationId xmlns:p14="http://schemas.microsoft.com/office/powerpoint/2010/main" val="7184667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/>
          <p:cNvGrpSpPr/>
          <p:nvPr/>
        </p:nvGrpSpPr>
        <p:grpSpPr>
          <a:xfrm>
            <a:off x="1835696" y="3481590"/>
            <a:ext cx="5813273" cy="3331786"/>
            <a:chOff x="1835696" y="3481590"/>
            <a:chExt cx="5813273" cy="3331786"/>
          </a:xfrm>
        </p:grpSpPr>
        <p:pic>
          <p:nvPicPr>
            <p:cNvPr id="126" name="Picture 125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8" t="13073" b="17771"/>
            <a:stretch/>
          </p:blipFill>
          <p:spPr bwMode="auto">
            <a:xfrm>
              <a:off x="1835696" y="3481590"/>
              <a:ext cx="5813273" cy="25396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4211960" y="6326063"/>
              <a:ext cx="2160240" cy="4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200" dirty="0" err="1" smtClean="0"/>
                <a:t>Altura</a:t>
              </a:r>
              <a:r>
                <a:rPr lang="en-US" sz="2200" dirty="0" smtClean="0"/>
                <a:t> (cm)</a:t>
              </a:r>
              <a:endParaRPr lang="en-US" sz="2200" i="1" dirty="0">
                <a:latin typeface="Arial"/>
                <a:cs typeface="Arial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195736" y="5988913"/>
              <a:ext cx="5400600" cy="39241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buClr>
                  <a:srgbClr val="FF6600"/>
                </a:buClr>
              </a:pPr>
              <a:r>
                <a:rPr lang="en-US" dirty="0" smtClean="0">
                  <a:latin typeface="Arial"/>
                  <a:cs typeface="Arial"/>
                </a:rPr>
                <a:t>140      150      160       170       180        190      200</a:t>
              </a: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4811189" y="3484728"/>
              <a:ext cx="377999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395536" y="1052736"/>
            <a:ext cx="8496944" cy="5764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 err="1" smtClean="0">
                <a:latin typeface="Helvetica"/>
                <a:cs typeface="Helvetica"/>
              </a:rPr>
              <a:t>Ejemplo</a:t>
            </a:r>
            <a:r>
              <a:rPr lang="en-US" sz="2600" dirty="0" smtClean="0">
                <a:latin typeface="Helvetica"/>
                <a:cs typeface="Helvetica"/>
              </a:rPr>
              <a:t>: </a:t>
            </a:r>
            <a:r>
              <a:rPr lang="en-US" sz="2400" dirty="0" err="1" smtClean="0">
                <a:latin typeface="Helvetica"/>
                <a:cs typeface="Helvetica"/>
              </a:rPr>
              <a:t>Seleccionamos</a:t>
            </a:r>
            <a:r>
              <a:rPr lang="en-US" sz="2400" dirty="0" smtClean="0">
                <a:latin typeface="Helvetica"/>
                <a:cs typeface="Helvetica"/>
              </a:rPr>
              <a:t> 5 hombres y 5 </a:t>
            </a:r>
            <a:r>
              <a:rPr lang="en-US" sz="2400" dirty="0" err="1" smtClean="0">
                <a:latin typeface="Helvetica"/>
                <a:cs typeface="Helvetica"/>
              </a:rPr>
              <a:t>mujeres</a:t>
            </a:r>
            <a:r>
              <a:rPr lang="en-US" sz="2400" dirty="0" smtClean="0">
                <a:latin typeface="Helvetica"/>
                <a:cs typeface="Helvetica"/>
              </a:rPr>
              <a:t> de forma </a:t>
            </a:r>
            <a:r>
              <a:rPr lang="en-US" sz="2400" dirty="0" err="1" smtClean="0">
                <a:latin typeface="Helvetica"/>
                <a:cs typeface="Helvetica"/>
              </a:rPr>
              <a:t>aleatoria</a:t>
            </a:r>
            <a:r>
              <a:rPr lang="en-US" sz="2400" dirty="0" smtClean="0">
                <a:latin typeface="Helvetica"/>
                <a:cs typeface="Helvetica"/>
              </a:rPr>
              <a:t> y </a:t>
            </a:r>
            <a:r>
              <a:rPr lang="en-US" sz="2400" dirty="0" err="1" smtClean="0">
                <a:latin typeface="Helvetica"/>
                <a:cs typeface="Helvetica"/>
              </a:rPr>
              <a:t>comparamos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su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altura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promedio</a:t>
            </a:r>
            <a:r>
              <a:rPr lang="en-US" sz="2400" dirty="0" smtClean="0">
                <a:latin typeface="Helvetica"/>
                <a:cs typeface="Helvetica"/>
              </a:rPr>
              <a:t>. </a:t>
            </a:r>
          </a:p>
          <a:p>
            <a:pPr>
              <a:lnSpc>
                <a:spcPct val="120000"/>
              </a:lnSpc>
            </a:pPr>
            <a:endParaRPr lang="en-US" sz="1000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n-US" dirty="0" err="1" smtClean="0">
                <a:latin typeface="Helvetica"/>
                <a:cs typeface="Helvetica"/>
              </a:rPr>
              <a:t>Muestreo</a:t>
            </a:r>
            <a:r>
              <a:rPr lang="en-US" dirty="0" smtClean="0">
                <a:latin typeface="Helvetica"/>
                <a:cs typeface="Helvetica"/>
              </a:rPr>
              <a:t> 1					</a:t>
            </a:r>
            <a:r>
              <a:rPr lang="en-US" dirty="0">
                <a:latin typeface="Helvetica"/>
                <a:cs typeface="Helvetica"/>
              </a:rPr>
              <a:t>	</a:t>
            </a:r>
            <a:r>
              <a:rPr lang="en-US" dirty="0" smtClean="0">
                <a:latin typeface="Helvetica"/>
                <a:cs typeface="Helvetica"/>
              </a:rPr>
              <a:t>	M &gt; H</a:t>
            </a:r>
          </a:p>
          <a:p>
            <a:pPr>
              <a:lnSpc>
                <a:spcPct val="110000"/>
              </a:lnSpc>
            </a:pPr>
            <a:r>
              <a:rPr lang="en-US" dirty="0" err="1" smtClean="0">
                <a:solidFill>
                  <a:srgbClr val="FFFFFF"/>
                </a:solidFill>
                <a:latin typeface="Helvetica"/>
                <a:cs typeface="Helvetica"/>
              </a:rPr>
              <a:t>Muestreo</a:t>
            </a:r>
            <a:r>
              <a:rPr lang="en-US" dirty="0" smtClean="0">
                <a:solidFill>
                  <a:srgbClr val="FFFFFF"/>
                </a:solidFill>
                <a:latin typeface="Helvetica"/>
                <a:cs typeface="Helvetica"/>
              </a:rPr>
              <a:t> 2							M &lt; H</a:t>
            </a:r>
          </a:p>
          <a:p>
            <a:pPr>
              <a:lnSpc>
                <a:spcPct val="110000"/>
              </a:lnSpc>
            </a:pPr>
            <a:r>
              <a:rPr lang="en-US" dirty="0" err="1">
                <a:solidFill>
                  <a:srgbClr val="FFFFFF"/>
                </a:solidFill>
                <a:latin typeface="Helvetica"/>
                <a:cs typeface="Helvetica"/>
              </a:rPr>
              <a:t>Muestreo</a:t>
            </a:r>
            <a:r>
              <a:rPr lang="en-US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lang="en-US" dirty="0" smtClean="0">
                <a:solidFill>
                  <a:srgbClr val="FFFFFF"/>
                </a:solidFill>
                <a:latin typeface="Helvetica"/>
                <a:cs typeface="Helvetica"/>
              </a:rPr>
              <a:t>3							M &lt; H</a:t>
            </a:r>
          </a:p>
          <a:p>
            <a:pPr>
              <a:lnSpc>
                <a:spcPct val="11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n-US" sz="2800" dirty="0" err="1" smtClean="0">
                <a:latin typeface="Helvetica"/>
                <a:cs typeface="Helvetica"/>
              </a:rPr>
              <a:t>Población</a:t>
            </a:r>
            <a:endParaRPr lang="en-US" sz="2800" dirty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dirty="0" smtClean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124" name="Group 123"/>
          <p:cNvGrpSpPr/>
          <p:nvPr/>
        </p:nvGrpSpPr>
        <p:grpSpPr>
          <a:xfrm>
            <a:off x="3707904" y="2271080"/>
            <a:ext cx="1944216" cy="144016"/>
            <a:chOff x="3707904" y="2271080"/>
            <a:chExt cx="1944216" cy="144016"/>
          </a:xfrm>
        </p:grpSpPr>
        <p:sp>
          <p:nvSpPr>
            <p:cNvPr id="14" name="Oval 13"/>
            <p:cNvSpPr/>
            <p:nvPr/>
          </p:nvSpPr>
          <p:spPr>
            <a:xfrm>
              <a:off x="370790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06794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644008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42798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932040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50810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385192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21196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283968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78802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6372200" y="4016677"/>
            <a:ext cx="5070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H</a:t>
            </a:r>
            <a:endParaRPr lang="en-US" sz="2600" i="1" dirty="0"/>
          </a:p>
        </p:txBody>
      </p:sp>
      <p:cxnSp>
        <p:nvCxnSpPr>
          <p:cNvPr id="131" name="Straight Connector 130"/>
          <p:cNvCxnSpPr/>
          <p:nvPr/>
        </p:nvCxnSpPr>
        <p:spPr>
          <a:xfrm flipH="1">
            <a:off x="5724128" y="4509120"/>
            <a:ext cx="648072" cy="50405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H="1" flipV="1">
            <a:off x="3131840" y="4005064"/>
            <a:ext cx="792088" cy="93610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2768794" y="3512621"/>
            <a:ext cx="5440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M</a:t>
            </a:r>
            <a:endParaRPr lang="en-US" sz="2600" i="1" dirty="0"/>
          </a:p>
        </p:txBody>
      </p:sp>
    </p:spTree>
    <p:extLst>
      <p:ext uri="{BB962C8B-B14F-4D97-AF65-F5344CB8AC3E}">
        <p14:creationId xmlns:p14="http://schemas.microsoft.com/office/powerpoint/2010/main" val="2063111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/>
          <p:cNvGrpSpPr/>
          <p:nvPr/>
        </p:nvGrpSpPr>
        <p:grpSpPr>
          <a:xfrm>
            <a:off x="1835696" y="3481590"/>
            <a:ext cx="5813273" cy="3331786"/>
            <a:chOff x="1835696" y="3481590"/>
            <a:chExt cx="5813273" cy="3331786"/>
          </a:xfrm>
        </p:grpSpPr>
        <p:pic>
          <p:nvPicPr>
            <p:cNvPr id="126" name="Picture 125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8" t="13073" b="17771"/>
            <a:stretch/>
          </p:blipFill>
          <p:spPr bwMode="auto">
            <a:xfrm>
              <a:off x="1835696" y="3481590"/>
              <a:ext cx="5813273" cy="25396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4211960" y="6326063"/>
              <a:ext cx="2160240" cy="4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200" dirty="0" err="1" smtClean="0"/>
                <a:t>Altura</a:t>
              </a:r>
              <a:r>
                <a:rPr lang="en-US" sz="2200" dirty="0" smtClean="0"/>
                <a:t> (cm)</a:t>
              </a:r>
              <a:endParaRPr lang="en-US" sz="2200" i="1" dirty="0">
                <a:latin typeface="Arial"/>
                <a:cs typeface="Arial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195736" y="5988913"/>
              <a:ext cx="5400600" cy="39241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buClr>
                  <a:srgbClr val="FF6600"/>
                </a:buClr>
              </a:pPr>
              <a:r>
                <a:rPr lang="en-US" dirty="0" smtClean="0">
                  <a:latin typeface="Arial"/>
                  <a:cs typeface="Arial"/>
                </a:rPr>
                <a:t>140      150      160       170       180        190      200</a:t>
              </a: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4811189" y="3484728"/>
              <a:ext cx="377999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395536" y="1052736"/>
            <a:ext cx="8496944" cy="5764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 err="1" smtClean="0">
                <a:latin typeface="Helvetica"/>
                <a:cs typeface="Helvetica"/>
              </a:rPr>
              <a:t>Ejemplo</a:t>
            </a:r>
            <a:r>
              <a:rPr lang="en-US" sz="2600" dirty="0" smtClean="0">
                <a:latin typeface="Helvetica"/>
                <a:cs typeface="Helvetica"/>
              </a:rPr>
              <a:t>: </a:t>
            </a:r>
            <a:r>
              <a:rPr lang="en-US" sz="2400" dirty="0" err="1" smtClean="0">
                <a:latin typeface="Helvetica"/>
                <a:cs typeface="Helvetica"/>
              </a:rPr>
              <a:t>Seleccionamos</a:t>
            </a:r>
            <a:r>
              <a:rPr lang="en-US" sz="2400" dirty="0" smtClean="0">
                <a:latin typeface="Helvetica"/>
                <a:cs typeface="Helvetica"/>
              </a:rPr>
              <a:t> 5 hombres y 5 </a:t>
            </a:r>
            <a:r>
              <a:rPr lang="en-US" sz="2400" dirty="0" err="1" smtClean="0">
                <a:latin typeface="Helvetica"/>
                <a:cs typeface="Helvetica"/>
              </a:rPr>
              <a:t>mujeres</a:t>
            </a:r>
            <a:r>
              <a:rPr lang="en-US" sz="2400" dirty="0" smtClean="0">
                <a:latin typeface="Helvetica"/>
                <a:cs typeface="Helvetica"/>
              </a:rPr>
              <a:t> de forma </a:t>
            </a:r>
            <a:r>
              <a:rPr lang="en-US" sz="2400" dirty="0" err="1" smtClean="0">
                <a:latin typeface="Helvetica"/>
                <a:cs typeface="Helvetica"/>
              </a:rPr>
              <a:t>aleatoria</a:t>
            </a:r>
            <a:r>
              <a:rPr lang="en-US" sz="2400" dirty="0" smtClean="0">
                <a:latin typeface="Helvetica"/>
                <a:cs typeface="Helvetica"/>
              </a:rPr>
              <a:t> y </a:t>
            </a:r>
            <a:r>
              <a:rPr lang="en-US" sz="2400" dirty="0" err="1" smtClean="0">
                <a:latin typeface="Helvetica"/>
                <a:cs typeface="Helvetica"/>
              </a:rPr>
              <a:t>comparamos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su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altura</a:t>
            </a:r>
            <a:r>
              <a:rPr lang="en-US" sz="2400" dirty="0" smtClean="0">
                <a:latin typeface="Helvetica"/>
                <a:cs typeface="Helvetica"/>
              </a:rPr>
              <a:t> </a:t>
            </a:r>
            <a:r>
              <a:rPr lang="en-US" sz="2400" dirty="0" err="1" smtClean="0">
                <a:latin typeface="Helvetica"/>
                <a:cs typeface="Helvetica"/>
              </a:rPr>
              <a:t>promedio</a:t>
            </a:r>
            <a:r>
              <a:rPr lang="en-US" sz="2400" dirty="0" smtClean="0">
                <a:latin typeface="Helvetica"/>
                <a:cs typeface="Helvetica"/>
              </a:rPr>
              <a:t>. </a:t>
            </a:r>
          </a:p>
          <a:p>
            <a:pPr>
              <a:lnSpc>
                <a:spcPct val="120000"/>
              </a:lnSpc>
            </a:pPr>
            <a:endParaRPr lang="en-US" sz="1000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n-US" dirty="0" err="1" smtClean="0">
                <a:latin typeface="Helvetica"/>
                <a:cs typeface="Helvetica"/>
              </a:rPr>
              <a:t>Muestreo</a:t>
            </a:r>
            <a:r>
              <a:rPr lang="en-US" dirty="0" smtClean="0">
                <a:latin typeface="Helvetica"/>
                <a:cs typeface="Helvetica"/>
              </a:rPr>
              <a:t> 1					</a:t>
            </a:r>
            <a:r>
              <a:rPr lang="en-US" dirty="0">
                <a:latin typeface="Helvetica"/>
                <a:cs typeface="Helvetica"/>
              </a:rPr>
              <a:t>	</a:t>
            </a:r>
            <a:r>
              <a:rPr lang="en-US" dirty="0" smtClean="0">
                <a:latin typeface="Helvetica"/>
                <a:cs typeface="Helvetica"/>
              </a:rPr>
              <a:t>	M &gt; H</a:t>
            </a:r>
          </a:p>
          <a:p>
            <a:pPr>
              <a:lnSpc>
                <a:spcPct val="110000"/>
              </a:lnSpc>
            </a:pPr>
            <a:r>
              <a:rPr lang="en-US" dirty="0" err="1" smtClean="0">
                <a:latin typeface="Helvetica"/>
                <a:cs typeface="Helvetica"/>
              </a:rPr>
              <a:t>Muestreo</a:t>
            </a:r>
            <a:r>
              <a:rPr lang="en-US" dirty="0" smtClean="0">
                <a:latin typeface="Helvetica"/>
                <a:cs typeface="Helvetica"/>
              </a:rPr>
              <a:t> 2							M &lt; H</a:t>
            </a:r>
          </a:p>
          <a:p>
            <a:pPr>
              <a:lnSpc>
                <a:spcPct val="110000"/>
              </a:lnSpc>
            </a:pPr>
            <a:r>
              <a:rPr lang="en-US" dirty="0" err="1">
                <a:solidFill>
                  <a:srgbClr val="FFFFFF"/>
                </a:solidFill>
                <a:latin typeface="Helvetica"/>
                <a:cs typeface="Helvetica"/>
              </a:rPr>
              <a:t>Muestreo</a:t>
            </a:r>
            <a:r>
              <a:rPr lang="en-US" dirty="0">
                <a:solidFill>
                  <a:srgbClr val="FFFFFF"/>
                </a:solidFill>
                <a:latin typeface="Helvetica"/>
                <a:cs typeface="Helvetica"/>
              </a:rPr>
              <a:t> </a:t>
            </a:r>
            <a:r>
              <a:rPr lang="en-US" dirty="0" smtClean="0">
                <a:solidFill>
                  <a:srgbClr val="FFFFFF"/>
                </a:solidFill>
                <a:latin typeface="Helvetica"/>
                <a:cs typeface="Helvetica"/>
              </a:rPr>
              <a:t>3							M &lt; H</a:t>
            </a:r>
          </a:p>
          <a:p>
            <a:pPr>
              <a:lnSpc>
                <a:spcPct val="11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n-US" sz="2800" dirty="0" err="1" smtClean="0">
                <a:latin typeface="Helvetica"/>
                <a:cs typeface="Helvetica"/>
              </a:rPr>
              <a:t>Población</a:t>
            </a:r>
            <a:endParaRPr lang="en-US" sz="2800" dirty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ES_tradn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dirty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dirty="0" smtClean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124" name="Group 123"/>
          <p:cNvGrpSpPr/>
          <p:nvPr/>
        </p:nvGrpSpPr>
        <p:grpSpPr>
          <a:xfrm>
            <a:off x="3707904" y="2271080"/>
            <a:ext cx="1944216" cy="144016"/>
            <a:chOff x="3707904" y="2271080"/>
            <a:chExt cx="1944216" cy="144016"/>
          </a:xfrm>
        </p:grpSpPr>
        <p:sp>
          <p:nvSpPr>
            <p:cNvPr id="14" name="Oval 13"/>
            <p:cNvSpPr/>
            <p:nvPr/>
          </p:nvSpPr>
          <p:spPr>
            <a:xfrm>
              <a:off x="370790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06794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644008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42798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932040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50810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385192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21196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283968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78802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627784" y="2575757"/>
            <a:ext cx="3024336" cy="144016"/>
            <a:chOff x="2627784" y="2492896"/>
            <a:chExt cx="3024336" cy="144016"/>
          </a:xfrm>
        </p:grpSpPr>
        <p:sp>
          <p:nvSpPr>
            <p:cNvPr id="25" name="Oval 24"/>
            <p:cNvSpPr/>
            <p:nvPr/>
          </p:nvSpPr>
          <p:spPr>
            <a:xfrm>
              <a:off x="356388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92392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49999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13995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627784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36408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7079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5081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211960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64400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6372200" y="4016677"/>
            <a:ext cx="5070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H</a:t>
            </a:r>
            <a:endParaRPr lang="en-US" sz="2600" i="1" dirty="0"/>
          </a:p>
        </p:txBody>
      </p:sp>
      <p:cxnSp>
        <p:nvCxnSpPr>
          <p:cNvPr id="131" name="Straight Connector 130"/>
          <p:cNvCxnSpPr/>
          <p:nvPr/>
        </p:nvCxnSpPr>
        <p:spPr>
          <a:xfrm flipH="1">
            <a:off x="5724128" y="4509120"/>
            <a:ext cx="648072" cy="50405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H="1" flipV="1">
            <a:off x="3131840" y="4005064"/>
            <a:ext cx="792088" cy="93610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2768794" y="3512621"/>
            <a:ext cx="5440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M</a:t>
            </a:r>
            <a:endParaRPr lang="en-US" sz="2600" i="1" dirty="0"/>
          </a:p>
        </p:txBody>
      </p:sp>
    </p:spTree>
    <p:extLst>
      <p:ext uri="{BB962C8B-B14F-4D97-AF65-F5344CB8AC3E}">
        <p14:creationId xmlns:p14="http://schemas.microsoft.com/office/powerpoint/2010/main" val="25457814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/>
          <p:cNvGrpSpPr/>
          <p:nvPr/>
        </p:nvGrpSpPr>
        <p:grpSpPr>
          <a:xfrm>
            <a:off x="1835696" y="3481590"/>
            <a:ext cx="5813273" cy="3331786"/>
            <a:chOff x="1835696" y="3481590"/>
            <a:chExt cx="5813273" cy="3331786"/>
          </a:xfrm>
        </p:grpSpPr>
        <p:pic>
          <p:nvPicPr>
            <p:cNvPr id="126" name="Picture 125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58" t="13073" b="17771"/>
            <a:stretch/>
          </p:blipFill>
          <p:spPr bwMode="auto">
            <a:xfrm>
              <a:off x="1835696" y="3481590"/>
              <a:ext cx="5813273" cy="25396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TextBox 126"/>
            <p:cNvSpPr txBox="1"/>
            <p:nvPr/>
          </p:nvSpPr>
          <p:spPr>
            <a:xfrm>
              <a:off x="4211960" y="6326063"/>
              <a:ext cx="2160240" cy="4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2200" dirty="0" err="1" smtClean="0"/>
                <a:t>Altura</a:t>
              </a:r>
              <a:r>
                <a:rPr lang="en-US" sz="2200" dirty="0" smtClean="0"/>
                <a:t> (cm)</a:t>
              </a:r>
              <a:endParaRPr lang="en-US" sz="2200" i="1" dirty="0">
                <a:latin typeface="Arial"/>
                <a:cs typeface="Arial"/>
              </a:endParaRP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2195736" y="5988913"/>
              <a:ext cx="5400600" cy="392415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buClr>
                  <a:srgbClr val="FF6600"/>
                </a:buClr>
              </a:pPr>
              <a:r>
                <a:rPr lang="en-US" dirty="0" smtClean="0">
                  <a:latin typeface="Arial"/>
                  <a:cs typeface="Arial"/>
                </a:rPr>
                <a:t>140      150      160       170       180        190      200</a:t>
              </a:r>
            </a:p>
          </p:txBody>
        </p:sp>
        <p:cxnSp>
          <p:nvCxnSpPr>
            <p:cNvPr id="129" name="Straight Connector 128"/>
            <p:cNvCxnSpPr/>
            <p:nvPr/>
          </p:nvCxnSpPr>
          <p:spPr>
            <a:xfrm>
              <a:off x="4811189" y="3484728"/>
              <a:ext cx="377999" cy="0"/>
            </a:xfrm>
            <a:prstGeom prst="line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395536" y="1052736"/>
            <a:ext cx="8496944" cy="476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 smtClean="0">
                <a:latin typeface="Helvetica"/>
                <a:cs typeface="Helvetica"/>
              </a:rPr>
              <a:t>Ejemplo</a:t>
            </a:r>
            <a:r>
              <a:rPr lang="es-CL" sz="2600" dirty="0" smtClean="0">
                <a:latin typeface="Helvetica"/>
                <a:cs typeface="Helvetica"/>
              </a:rPr>
              <a:t>: </a:t>
            </a:r>
            <a:r>
              <a:rPr lang="es-CL" sz="2400" dirty="0" smtClean="0">
                <a:latin typeface="Helvetica"/>
                <a:cs typeface="Helvetica"/>
              </a:rPr>
              <a:t>Seleccionamos 5 hombres y 5 mujeres de forma aleatoria y comparamos su altura promedio. </a:t>
            </a:r>
          </a:p>
          <a:p>
            <a:pPr>
              <a:lnSpc>
                <a:spcPct val="120000"/>
              </a:lnSpc>
            </a:pPr>
            <a:endParaRPr lang="es-CL" sz="1000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1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2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3							M &lt; H</a:t>
            </a:r>
          </a:p>
          <a:p>
            <a:pPr>
              <a:lnSpc>
                <a:spcPct val="11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sz="2800" dirty="0" smtClean="0">
                <a:latin typeface="Helvetica"/>
                <a:cs typeface="Helvetica"/>
              </a:rPr>
              <a:t>Población</a:t>
            </a: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dirty="0" smtClean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124" name="Group 123"/>
          <p:cNvGrpSpPr/>
          <p:nvPr/>
        </p:nvGrpSpPr>
        <p:grpSpPr>
          <a:xfrm>
            <a:off x="3707904" y="2271080"/>
            <a:ext cx="1944216" cy="144016"/>
            <a:chOff x="3707904" y="2271080"/>
            <a:chExt cx="1944216" cy="144016"/>
          </a:xfrm>
        </p:grpSpPr>
        <p:sp>
          <p:nvSpPr>
            <p:cNvPr id="14" name="Oval 13"/>
            <p:cNvSpPr/>
            <p:nvPr/>
          </p:nvSpPr>
          <p:spPr>
            <a:xfrm>
              <a:off x="370790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06794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644008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42798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932040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50810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385192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21196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283968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78802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627784" y="2575757"/>
            <a:ext cx="3024336" cy="144016"/>
            <a:chOff x="2627784" y="2492896"/>
            <a:chExt cx="3024336" cy="144016"/>
          </a:xfrm>
        </p:grpSpPr>
        <p:sp>
          <p:nvSpPr>
            <p:cNvPr id="25" name="Oval 24"/>
            <p:cNvSpPr/>
            <p:nvPr/>
          </p:nvSpPr>
          <p:spPr>
            <a:xfrm>
              <a:off x="356388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92392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49999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13995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627784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36408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7079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5081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211960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64400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4067944" y="2880434"/>
            <a:ext cx="2520280" cy="144016"/>
            <a:chOff x="4067944" y="2708920"/>
            <a:chExt cx="2520280" cy="144016"/>
          </a:xfrm>
        </p:grpSpPr>
        <p:sp>
          <p:nvSpPr>
            <p:cNvPr id="35" name="Oval 34"/>
            <p:cNvSpPr/>
            <p:nvPr/>
          </p:nvSpPr>
          <p:spPr>
            <a:xfrm>
              <a:off x="449999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58011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076056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4067944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6300192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4008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6444208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5220072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5796136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6372200" y="4016677"/>
            <a:ext cx="5070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H</a:t>
            </a:r>
            <a:endParaRPr lang="en-US" sz="2600" i="1" dirty="0"/>
          </a:p>
        </p:txBody>
      </p:sp>
      <p:cxnSp>
        <p:nvCxnSpPr>
          <p:cNvPr id="131" name="Straight Connector 130"/>
          <p:cNvCxnSpPr/>
          <p:nvPr/>
        </p:nvCxnSpPr>
        <p:spPr>
          <a:xfrm flipH="1">
            <a:off x="5724128" y="4509120"/>
            <a:ext cx="648072" cy="50405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/>
          <p:cNvCxnSpPr/>
          <p:nvPr/>
        </p:nvCxnSpPr>
        <p:spPr>
          <a:xfrm flipH="1" flipV="1">
            <a:off x="3131840" y="4005064"/>
            <a:ext cx="792088" cy="936104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2768794" y="3512621"/>
            <a:ext cx="5440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i="1" dirty="0" smtClean="0"/>
              <a:t>M</a:t>
            </a:r>
            <a:endParaRPr lang="en-US" sz="2600" i="1" dirty="0"/>
          </a:p>
        </p:txBody>
      </p:sp>
    </p:spTree>
    <p:extLst>
      <p:ext uri="{BB962C8B-B14F-4D97-AF65-F5344CB8AC3E}">
        <p14:creationId xmlns:p14="http://schemas.microsoft.com/office/powerpoint/2010/main" val="42169988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052736"/>
            <a:ext cx="8496944" cy="6204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 smtClean="0">
                <a:latin typeface="Helvetica"/>
                <a:cs typeface="Helvetica"/>
              </a:rPr>
              <a:t>Ejemplo</a:t>
            </a:r>
            <a:r>
              <a:rPr lang="es-CL" sz="2600" dirty="0" smtClean="0">
                <a:latin typeface="Helvetica"/>
                <a:cs typeface="Helvetica"/>
              </a:rPr>
              <a:t>: </a:t>
            </a:r>
            <a:r>
              <a:rPr lang="es-CL" sz="2400" dirty="0" smtClean="0">
                <a:latin typeface="Helvetica"/>
                <a:cs typeface="Helvetica"/>
              </a:rPr>
              <a:t>Seleccionamos 5 hombres y 5 mujeres de forma aleatoria y comparamos su altura promedio. </a:t>
            </a:r>
          </a:p>
          <a:p>
            <a:pPr>
              <a:lnSpc>
                <a:spcPct val="120000"/>
              </a:lnSpc>
            </a:pPr>
            <a:endParaRPr lang="es-CL" sz="1000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1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2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3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4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5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6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7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8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9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10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…</a:t>
            </a: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dirty="0" smtClean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124" name="Group 123"/>
          <p:cNvGrpSpPr/>
          <p:nvPr/>
        </p:nvGrpSpPr>
        <p:grpSpPr>
          <a:xfrm>
            <a:off x="3707904" y="2271080"/>
            <a:ext cx="1944216" cy="144016"/>
            <a:chOff x="3707904" y="2271080"/>
            <a:chExt cx="1944216" cy="144016"/>
          </a:xfrm>
        </p:grpSpPr>
        <p:sp>
          <p:nvSpPr>
            <p:cNvPr id="14" name="Oval 13"/>
            <p:cNvSpPr/>
            <p:nvPr/>
          </p:nvSpPr>
          <p:spPr>
            <a:xfrm>
              <a:off x="370790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06794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644008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42798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932040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50810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385192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21196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283968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78802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627784" y="2575757"/>
            <a:ext cx="3024336" cy="144016"/>
            <a:chOff x="2627784" y="2492896"/>
            <a:chExt cx="3024336" cy="144016"/>
          </a:xfrm>
        </p:grpSpPr>
        <p:sp>
          <p:nvSpPr>
            <p:cNvPr id="25" name="Oval 24"/>
            <p:cNvSpPr/>
            <p:nvPr/>
          </p:nvSpPr>
          <p:spPr>
            <a:xfrm>
              <a:off x="356388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92392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49999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13995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627784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36408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7079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5081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211960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64400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4067944" y="2880434"/>
            <a:ext cx="2520280" cy="144016"/>
            <a:chOff x="4067944" y="2708920"/>
            <a:chExt cx="2520280" cy="144016"/>
          </a:xfrm>
        </p:grpSpPr>
        <p:sp>
          <p:nvSpPr>
            <p:cNvPr id="35" name="Oval 34"/>
            <p:cNvSpPr/>
            <p:nvPr/>
          </p:nvSpPr>
          <p:spPr>
            <a:xfrm>
              <a:off x="449999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58011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076056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4067944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6300192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4008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6444208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5220072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5796136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3347864" y="3185111"/>
            <a:ext cx="2520280" cy="144016"/>
            <a:chOff x="3347864" y="2924944"/>
            <a:chExt cx="2520280" cy="144016"/>
          </a:xfrm>
        </p:grpSpPr>
        <p:sp>
          <p:nvSpPr>
            <p:cNvPr id="45" name="Oval 44"/>
            <p:cNvSpPr/>
            <p:nvPr/>
          </p:nvSpPr>
          <p:spPr>
            <a:xfrm>
              <a:off x="3779912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4139952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4771743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3563888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3347864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5580112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3995936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5724128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4499992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5076056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3779912" y="3489788"/>
            <a:ext cx="1944216" cy="144016"/>
            <a:chOff x="3779912" y="3279192"/>
            <a:chExt cx="1944216" cy="144016"/>
          </a:xfrm>
        </p:grpSpPr>
        <p:sp>
          <p:nvSpPr>
            <p:cNvPr id="56" name="Oval 55"/>
            <p:cNvSpPr/>
            <p:nvPr/>
          </p:nvSpPr>
          <p:spPr>
            <a:xfrm>
              <a:off x="3779912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4139952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716016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4499992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5004048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5580112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3923928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4283968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4355976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4860032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99792" y="3794465"/>
            <a:ext cx="3024336" cy="144016"/>
            <a:chOff x="2699792" y="3501008"/>
            <a:chExt cx="3024336" cy="144016"/>
          </a:xfrm>
        </p:grpSpPr>
        <p:sp>
          <p:nvSpPr>
            <p:cNvPr id="69" name="Oval 68"/>
            <p:cNvSpPr/>
            <p:nvPr/>
          </p:nvSpPr>
          <p:spPr>
            <a:xfrm>
              <a:off x="3635896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3995936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4572000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4211960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2699792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5436096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3779912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5580112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4283968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4716016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39952" y="4099142"/>
            <a:ext cx="2520280" cy="144016"/>
            <a:chOff x="4139952" y="3717032"/>
            <a:chExt cx="2520280" cy="144016"/>
          </a:xfrm>
        </p:grpSpPr>
        <p:sp>
          <p:nvSpPr>
            <p:cNvPr id="79" name="Oval 78"/>
            <p:cNvSpPr/>
            <p:nvPr/>
          </p:nvSpPr>
          <p:spPr>
            <a:xfrm>
              <a:off x="4572000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4932040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5652120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5148064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4139952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6372200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4716016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6516216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5292080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868144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419872" y="4403819"/>
            <a:ext cx="2520280" cy="144016"/>
            <a:chOff x="3419872" y="3933056"/>
            <a:chExt cx="2520280" cy="144016"/>
          </a:xfrm>
        </p:grpSpPr>
        <p:sp>
          <p:nvSpPr>
            <p:cNvPr id="89" name="Oval 88"/>
            <p:cNvSpPr/>
            <p:nvPr/>
          </p:nvSpPr>
          <p:spPr>
            <a:xfrm>
              <a:off x="3851920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>
            <a:xfrm>
              <a:off x="4211960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4843751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3635896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>
            <a:xfrm>
              <a:off x="3419872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5652120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4067944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>
              <a:off x="5796136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4572000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5148064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851920" y="4708496"/>
            <a:ext cx="2520280" cy="144016"/>
            <a:chOff x="3851920" y="4149080"/>
            <a:chExt cx="2520280" cy="144016"/>
          </a:xfrm>
        </p:grpSpPr>
        <p:sp>
          <p:nvSpPr>
            <p:cNvPr id="99" name="Oval 98"/>
            <p:cNvSpPr/>
            <p:nvPr/>
          </p:nvSpPr>
          <p:spPr>
            <a:xfrm>
              <a:off x="4283968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>
            <a:xfrm>
              <a:off x="4644008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5364088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4860032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3851920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>
            <a:xfrm>
              <a:off x="6084168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4427984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6228184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5004048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5580112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131840" y="5013176"/>
            <a:ext cx="2520280" cy="144016"/>
            <a:chOff x="3131840" y="4365104"/>
            <a:chExt cx="2520280" cy="144016"/>
          </a:xfrm>
        </p:grpSpPr>
        <p:sp>
          <p:nvSpPr>
            <p:cNvPr id="109" name="Oval 108"/>
            <p:cNvSpPr/>
            <p:nvPr/>
          </p:nvSpPr>
          <p:spPr>
            <a:xfrm>
              <a:off x="3563888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3923928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>
            <a:xfrm>
              <a:off x="4555719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3347864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3131840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5364088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3779912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5508104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4283968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4860032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8826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052736"/>
            <a:ext cx="8496944" cy="6204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 smtClean="0">
                <a:latin typeface="Helvetica"/>
                <a:cs typeface="Helvetica"/>
              </a:rPr>
              <a:t>Ejemplo</a:t>
            </a:r>
            <a:r>
              <a:rPr lang="es-CL" sz="2600" dirty="0" smtClean="0">
                <a:latin typeface="Helvetica"/>
                <a:cs typeface="Helvetica"/>
              </a:rPr>
              <a:t>: </a:t>
            </a:r>
            <a:r>
              <a:rPr lang="es-CL" sz="2400" dirty="0" smtClean="0">
                <a:latin typeface="Helvetica"/>
                <a:cs typeface="Helvetica"/>
              </a:rPr>
              <a:t>Seleccionamos 5 hombres y 5 mujeres de forma aleatoria y comparamos su altura promedio. </a:t>
            </a:r>
          </a:p>
          <a:p>
            <a:pPr>
              <a:lnSpc>
                <a:spcPct val="120000"/>
              </a:lnSpc>
            </a:pPr>
            <a:endParaRPr lang="es-CL" sz="1000" dirty="0" smtClean="0"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1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2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3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4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5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6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7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8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9							M &lt;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Muestreo 10							M &gt; H</a:t>
            </a:r>
          </a:p>
          <a:p>
            <a:pPr>
              <a:lnSpc>
                <a:spcPct val="110000"/>
              </a:lnSpc>
            </a:pPr>
            <a:r>
              <a:rPr lang="es-CL" dirty="0" smtClean="0">
                <a:latin typeface="Helvetica"/>
                <a:cs typeface="Helvetica"/>
              </a:rPr>
              <a:t>…</a:t>
            </a: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9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dirty="0" smtClean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124" name="Group 123"/>
          <p:cNvGrpSpPr/>
          <p:nvPr/>
        </p:nvGrpSpPr>
        <p:grpSpPr>
          <a:xfrm>
            <a:off x="3707904" y="2271080"/>
            <a:ext cx="1944216" cy="144016"/>
            <a:chOff x="3707904" y="2271080"/>
            <a:chExt cx="1944216" cy="144016"/>
          </a:xfrm>
        </p:grpSpPr>
        <p:sp>
          <p:nvSpPr>
            <p:cNvPr id="14" name="Oval 13"/>
            <p:cNvSpPr/>
            <p:nvPr/>
          </p:nvSpPr>
          <p:spPr>
            <a:xfrm>
              <a:off x="370790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06794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644008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4427984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932040" y="2271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50810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385192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211960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283968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4788024" y="2271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2627784" y="2575757"/>
            <a:ext cx="3024336" cy="144016"/>
            <a:chOff x="2627784" y="2492896"/>
            <a:chExt cx="3024336" cy="144016"/>
          </a:xfrm>
        </p:grpSpPr>
        <p:sp>
          <p:nvSpPr>
            <p:cNvPr id="25" name="Oval 24"/>
            <p:cNvSpPr/>
            <p:nvPr/>
          </p:nvSpPr>
          <p:spPr>
            <a:xfrm>
              <a:off x="356388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923928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49999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139952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2627784" y="249289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36408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7079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5508104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211960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4644008" y="249289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4067944" y="2880434"/>
            <a:ext cx="2520280" cy="144016"/>
            <a:chOff x="4067944" y="2708920"/>
            <a:chExt cx="2520280" cy="144016"/>
          </a:xfrm>
        </p:grpSpPr>
        <p:sp>
          <p:nvSpPr>
            <p:cNvPr id="35" name="Oval 34"/>
            <p:cNvSpPr/>
            <p:nvPr/>
          </p:nvSpPr>
          <p:spPr>
            <a:xfrm>
              <a:off x="449999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580112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5076056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4067944" y="270892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6300192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4008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6444208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5220072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5796136" y="270892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3347864" y="3185111"/>
            <a:ext cx="2520280" cy="144016"/>
            <a:chOff x="3347864" y="2924944"/>
            <a:chExt cx="2520280" cy="144016"/>
          </a:xfrm>
        </p:grpSpPr>
        <p:sp>
          <p:nvSpPr>
            <p:cNvPr id="45" name="Oval 44"/>
            <p:cNvSpPr/>
            <p:nvPr/>
          </p:nvSpPr>
          <p:spPr>
            <a:xfrm>
              <a:off x="3779912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4139952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4771743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3563888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3347864" y="292494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5580112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3995936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5724128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4499992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5076056" y="292494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" name="Group 118"/>
          <p:cNvGrpSpPr/>
          <p:nvPr/>
        </p:nvGrpSpPr>
        <p:grpSpPr>
          <a:xfrm>
            <a:off x="3779912" y="3489788"/>
            <a:ext cx="1944216" cy="144016"/>
            <a:chOff x="3779912" y="3279192"/>
            <a:chExt cx="1944216" cy="144016"/>
          </a:xfrm>
        </p:grpSpPr>
        <p:sp>
          <p:nvSpPr>
            <p:cNvPr id="56" name="Oval 55"/>
            <p:cNvSpPr/>
            <p:nvPr/>
          </p:nvSpPr>
          <p:spPr>
            <a:xfrm>
              <a:off x="3779912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4139952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4716016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4499992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5004048" y="327919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5580112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3923928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4283968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4355976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4860032" y="327919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699792" y="3794465"/>
            <a:ext cx="3024336" cy="144016"/>
            <a:chOff x="2699792" y="3501008"/>
            <a:chExt cx="3024336" cy="144016"/>
          </a:xfrm>
        </p:grpSpPr>
        <p:sp>
          <p:nvSpPr>
            <p:cNvPr id="69" name="Oval 68"/>
            <p:cNvSpPr/>
            <p:nvPr/>
          </p:nvSpPr>
          <p:spPr>
            <a:xfrm>
              <a:off x="3635896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3995936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/>
            <p:cNvSpPr/>
            <p:nvPr/>
          </p:nvSpPr>
          <p:spPr>
            <a:xfrm>
              <a:off x="4572000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/>
            <p:cNvSpPr/>
            <p:nvPr/>
          </p:nvSpPr>
          <p:spPr>
            <a:xfrm>
              <a:off x="4211960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2699792" y="3501008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5436096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3779912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/>
            <p:cNvSpPr/>
            <p:nvPr/>
          </p:nvSpPr>
          <p:spPr>
            <a:xfrm>
              <a:off x="5580112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/>
            <p:cNvSpPr/>
            <p:nvPr/>
          </p:nvSpPr>
          <p:spPr>
            <a:xfrm>
              <a:off x="4283968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/>
            <p:nvPr/>
          </p:nvSpPr>
          <p:spPr>
            <a:xfrm>
              <a:off x="4716016" y="3501008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39952" y="4099142"/>
            <a:ext cx="2520280" cy="144016"/>
            <a:chOff x="4139952" y="3717032"/>
            <a:chExt cx="2520280" cy="144016"/>
          </a:xfrm>
        </p:grpSpPr>
        <p:sp>
          <p:nvSpPr>
            <p:cNvPr id="79" name="Oval 78"/>
            <p:cNvSpPr/>
            <p:nvPr/>
          </p:nvSpPr>
          <p:spPr>
            <a:xfrm>
              <a:off x="4572000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/>
            <p:nvPr/>
          </p:nvSpPr>
          <p:spPr>
            <a:xfrm>
              <a:off x="4932040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5652120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5148064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/>
            <p:nvPr/>
          </p:nvSpPr>
          <p:spPr>
            <a:xfrm>
              <a:off x="4139952" y="3717032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/>
            <p:nvPr/>
          </p:nvSpPr>
          <p:spPr>
            <a:xfrm>
              <a:off x="6372200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4716016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/>
            <p:nvPr/>
          </p:nvSpPr>
          <p:spPr>
            <a:xfrm>
              <a:off x="6516216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/>
            <p:nvPr/>
          </p:nvSpPr>
          <p:spPr>
            <a:xfrm>
              <a:off x="5292080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/>
            <p:nvPr/>
          </p:nvSpPr>
          <p:spPr>
            <a:xfrm>
              <a:off x="5868144" y="3717032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419872" y="4403819"/>
            <a:ext cx="2520280" cy="144016"/>
            <a:chOff x="3419872" y="3933056"/>
            <a:chExt cx="2520280" cy="144016"/>
          </a:xfrm>
        </p:grpSpPr>
        <p:sp>
          <p:nvSpPr>
            <p:cNvPr id="89" name="Oval 88"/>
            <p:cNvSpPr/>
            <p:nvPr/>
          </p:nvSpPr>
          <p:spPr>
            <a:xfrm>
              <a:off x="3851920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/>
            <p:cNvSpPr/>
            <p:nvPr/>
          </p:nvSpPr>
          <p:spPr>
            <a:xfrm>
              <a:off x="4211960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/>
            <p:cNvSpPr/>
            <p:nvPr/>
          </p:nvSpPr>
          <p:spPr>
            <a:xfrm>
              <a:off x="4843751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3635896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/>
            <p:cNvSpPr/>
            <p:nvPr/>
          </p:nvSpPr>
          <p:spPr>
            <a:xfrm>
              <a:off x="3419872" y="3933056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5652120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4067944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>
              <a:off x="5796136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4572000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/>
            <p:cNvSpPr/>
            <p:nvPr/>
          </p:nvSpPr>
          <p:spPr>
            <a:xfrm>
              <a:off x="5148064" y="3933056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851920" y="4708496"/>
            <a:ext cx="2520280" cy="144016"/>
            <a:chOff x="3851920" y="4149080"/>
            <a:chExt cx="2520280" cy="144016"/>
          </a:xfrm>
        </p:grpSpPr>
        <p:sp>
          <p:nvSpPr>
            <p:cNvPr id="99" name="Oval 98"/>
            <p:cNvSpPr/>
            <p:nvPr/>
          </p:nvSpPr>
          <p:spPr>
            <a:xfrm>
              <a:off x="4283968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/>
            <p:cNvSpPr/>
            <p:nvPr/>
          </p:nvSpPr>
          <p:spPr>
            <a:xfrm>
              <a:off x="4644008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/>
            <p:cNvSpPr/>
            <p:nvPr/>
          </p:nvSpPr>
          <p:spPr>
            <a:xfrm>
              <a:off x="5364088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/>
            <p:cNvSpPr/>
            <p:nvPr/>
          </p:nvSpPr>
          <p:spPr>
            <a:xfrm>
              <a:off x="4860032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/>
            <p:cNvSpPr/>
            <p:nvPr/>
          </p:nvSpPr>
          <p:spPr>
            <a:xfrm>
              <a:off x="3851920" y="4149080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/>
            <p:cNvSpPr/>
            <p:nvPr/>
          </p:nvSpPr>
          <p:spPr>
            <a:xfrm>
              <a:off x="6084168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/>
            <p:cNvSpPr/>
            <p:nvPr/>
          </p:nvSpPr>
          <p:spPr>
            <a:xfrm>
              <a:off x="4427984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6228184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5004048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5580112" y="4149080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131840" y="5013176"/>
            <a:ext cx="2520280" cy="144016"/>
            <a:chOff x="3131840" y="4365104"/>
            <a:chExt cx="2520280" cy="144016"/>
          </a:xfrm>
        </p:grpSpPr>
        <p:sp>
          <p:nvSpPr>
            <p:cNvPr id="109" name="Oval 108"/>
            <p:cNvSpPr/>
            <p:nvPr/>
          </p:nvSpPr>
          <p:spPr>
            <a:xfrm>
              <a:off x="3563888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3923928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/>
            <p:cNvSpPr/>
            <p:nvPr/>
          </p:nvSpPr>
          <p:spPr>
            <a:xfrm>
              <a:off x="4555719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/>
            <p:cNvSpPr/>
            <p:nvPr/>
          </p:nvSpPr>
          <p:spPr>
            <a:xfrm>
              <a:off x="3347864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/>
            <p:cNvSpPr/>
            <p:nvPr/>
          </p:nvSpPr>
          <p:spPr>
            <a:xfrm>
              <a:off x="3131840" y="4365104"/>
              <a:ext cx="144016" cy="144016"/>
            </a:xfrm>
            <a:prstGeom prst="ellipse">
              <a:avLst/>
            </a:prstGeom>
            <a:solidFill>
              <a:srgbClr val="0000FF"/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5364088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3779912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5508104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4283968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4860032" y="4365104"/>
              <a:ext cx="144016" cy="14401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Rounded Rectangle 120"/>
          <p:cNvSpPr/>
          <p:nvPr/>
        </p:nvSpPr>
        <p:spPr>
          <a:xfrm>
            <a:off x="323528" y="5589240"/>
            <a:ext cx="8496944" cy="1008112"/>
          </a:xfrm>
          <a:prstGeom prst="roundRect">
            <a:avLst/>
          </a:prstGeom>
          <a:solidFill>
            <a:srgbClr val="000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600" dirty="0" smtClean="0">
                <a:solidFill>
                  <a:schemeClr val="tx1"/>
                </a:solidFill>
                <a:latin typeface="Helvetica"/>
                <a:cs typeface="Helvetica"/>
              </a:rPr>
              <a:t>¿Cual es la probabilidad de obtener el resultado observado por pura suerte? </a:t>
            </a:r>
            <a:r>
              <a:rPr lang="es-CL" sz="2600" dirty="0" smtClean="0">
                <a:latin typeface="Helvetica"/>
                <a:cs typeface="Helvetica"/>
              </a:rPr>
              <a:t> </a:t>
            </a:r>
            <a:endParaRPr lang="es-CL" sz="26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836523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5536" y="2636912"/>
            <a:ext cx="8496944" cy="1944216"/>
          </a:xfrm>
          <a:prstGeom prst="roundRect">
            <a:avLst/>
          </a:prstGeom>
          <a:solidFill>
            <a:srgbClr val="8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95536" y="1052736"/>
            <a:ext cx="8496944" cy="5950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 smtClean="0">
                <a:latin typeface="Helvetica"/>
                <a:cs typeface="Helvetica"/>
              </a:rPr>
              <a:t>Ejemplo</a:t>
            </a:r>
            <a:r>
              <a:rPr lang="es-CL" sz="2600" dirty="0" smtClean="0">
                <a:latin typeface="Helvetica"/>
                <a:cs typeface="Helvetica"/>
              </a:rPr>
              <a:t>: </a:t>
            </a:r>
            <a:r>
              <a:rPr lang="es-CL" sz="2400" dirty="0" smtClean="0">
                <a:latin typeface="Helvetica"/>
                <a:cs typeface="Helvetica"/>
              </a:rPr>
              <a:t>Seleccionamos 5 hombres y 5 mujeres de forma aleatoria y comparamos su altura promedio. </a:t>
            </a:r>
          </a:p>
          <a:p>
            <a:pPr>
              <a:lnSpc>
                <a:spcPct val="120000"/>
              </a:lnSpc>
            </a:pPr>
            <a:endParaRPr lang="es-CL" sz="2400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400" dirty="0" smtClean="0">
              <a:latin typeface="Helvetica"/>
              <a:cs typeface="Helvetica"/>
            </a:endParaRPr>
          </a:p>
          <a:p>
            <a:pPr marL="439738">
              <a:lnSpc>
                <a:spcPct val="120000"/>
              </a:lnSpc>
            </a:pPr>
            <a:r>
              <a:rPr lang="es-CL" sz="2400" dirty="0" smtClean="0">
                <a:latin typeface="Helvetica"/>
                <a:cs typeface="Helvetica"/>
              </a:rPr>
              <a:t>Encontramos que las mujeres son más altas que los hombres en esa muestra. ¿Podemos inferir que las mujeres son más altas que los hombres en la población?</a:t>
            </a:r>
          </a:p>
          <a:p>
            <a:pPr marL="439738">
              <a:lnSpc>
                <a:spcPct val="120000"/>
              </a:lnSpc>
            </a:pPr>
            <a:endParaRPr lang="es-CL" sz="2400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r>
              <a:rPr lang="es-CL" sz="2400" dirty="0" smtClean="0">
                <a:latin typeface="Helvetica"/>
                <a:cs typeface="Helvetica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s-CL" sz="2400" dirty="0" smtClean="0">
                <a:latin typeface="Helvetica"/>
                <a:cs typeface="Helvetica"/>
              </a:rPr>
              <a:t>Si en 40% de las comparaciones las mujeres resultan más altas en promedio, no estamos muy seguros que las mujeres son más altas que los hombres (o vice versa).</a:t>
            </a: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9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8387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4602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800" b="1" dirty="0" smtClean="0">
                <a:solidFill>
                  <a:srgbClr val="000000"/>
                </a:solidFill>
                <a:latin typeface="Helvetica"/>
                <a:cs typeface="Helvetica"/>
              </a:rPr>
              <a:t>Método hipotético deductivo</a:t>
            </a: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:</a:t>
            </a: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179388">
              <a:lnSpc>
                <a:spcPct val="150000"/>
              </a:lnSpc>
            </a:pP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Comparamos nuestros datos con lo </a:t>
            </a:r>
            <a:r>
              <a:rPr lang="es-CL" sz="2800" b="1" dirty="0" smtClean="0">
                <a:solidFill>
                  <a:srgbClr val="800000"/>
                </a:solidFill>
                <a:latin typeface="Helvetica"/>
                <a:cs typeface="Helvetica"/>
              </a:rPr>
              <a:t>esperado en ausencia de efecto</a:t>
            </a:r>
            <a:r>
              <a:rPr lang="es-CL" sz="2800" dirty="0" smtClean="0">
                <a:solidFill>
                  <a:srgbClr val="800000"/>
                </a:solidFill>
                <a:latin typeface="Helvetica"/>
                <a:cs typeface="Helvetica"/>
              </a:rPr>
              <a:t>,</a:t>
            </a: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 y estimamos </a:t>
            </a:r>
            <a:r>
              <a:rPr lang="es-CL" sz="2800" b="1" dirty="0" smtClean="0">
                <a:solidFill>
                  <a:srgbClr val="000090"/>
                </a:solidFill>
                <a:latin typeface="Helvetica"/>
                <a:cs typeface="Helvetica"/>
              </a:rPr>
              <a:t>la probabilidad de lo que observamos pueda deberse al azar</a:t>
            </a:r>
            <a:r>
              <a:rPr lang="es-CL" sz="2800" dirty="0" smtClean="0">
                <a:solidFill>
                  <a:srgbClr val="000090"/>
                </a:solidFill>
                <a:latin typeface="Helvetica"/>
                <a:cs typeface="Helvetica"/>
              </a:rPr>
              <a:t>.</a:t>
            </a: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</a:p>
          <a:p>
            <a:pPr marL="179388"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004048" y="2348880"/>
            <a:ext cx="3813815" cy="677108"/>
            <a:chOff x="3087840" y="5419322"/>
            <a:chExt cx="3813815" cy="677108"/>
          </a:xfrm>
        </p:grpSpPr>
        <p:sp>
          <p:nvSpPr>
            <p:cNvPr id="5" name="TextBox 4"/>
            <p:cNvSpPr txBox="1"/>
            <p:nvPr/>
          </p:nvSpPr>
          <p:spPr>
            <a:xfrm rot="752770">
              <a:off x="3087840" y="5419322"/>
              <a:ext cx="3813815" cy="677108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rtlCol="0">
              <a:spAutoFit/>
            </a:bodyPr>
            <a:lstStyle/>
            <a:p>
              <a:r>
                <a:rPr lang="en-US" sz="3800" dirty="0" err="1" smtClean="0">
                  <a:solidFill>
                    <a:srgbClr val="FFFFFF"/>
                  </a:solidFill>
                </a:rPr>
                <a:t>Muy</a:t>
              </a:r>
              <a:r>
                <a:rPr lang="en-US" sz="3800" dirty="0" smtClean="0">
                  <a:solidFill>
                    <a:srgbClr val="FFFFFF"/>
                  </a:solidFill>
                </a:rPr>
                <a:t> </a:t>
              </a:r>
              <a:r>
                <a:rPr lang="en-US" sz="3800" dirty="0" err="1" smtClean="0">
                  <a:solidFill>
                    <a:srgbClr val="FFFFFF"/>
                  </a:solidFill>
                </a:rPr>
                <a:t>importante</a:t>
              </a:r>
              <a:r>
                <a:rPr lang="en-US" sz="3800" dirty="0" smtClean="0">
                  <a:solidFill>
                    <a:srgbClr val="FFFFFF"/>
                  </a:solidFill>
                </a:rPr>
                <a:t>!!</a:t>
              </a:r>
              <a:endParaRPr lang="en-US" sz="3800" dirty="0">
                <a:solidFill>
                  <a:srgbClr val="FFFFFF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 rot="752770">
              <a:off x="3087840" y="5419322"/>
              <a:ext cx="3813815" cy="677108"/>
            </a:xfrm>
            <a:prstGeom prst="rect">
              <a:avLst/>
            </a:prstGeom>
            <a:solidFill>
              <a:srgbClr val="800000">
                <a:alpha val="32000"/>
              </a:srgbClr>
            </a:solidFill>
          </p:spPr>
          <p:txBody>
            <a:bodyPr wrap="none" rtlCol="0">
              <a:spAutoFit/>
            </a:bodyPr>
            <a:lstStyle/>
            <a:p>
              <a:r>
                <a:rPr lang="en-US" sz="3800" dirty="0" err="1" smtClean="0"/>
                <a:t>Muy</a:t>
              </a:r>
              <a:r>
                <a:rPr lang="en-US" sz="3800" dirty="0" smtClean="0"/>
                <a:t> </a:t>
              </a:r>
              <a:r>
                <a:rPr lang="en-US" sz="3800" dirty="0" err="1" smtClean="0"/>
                <a:t>importante</a:t>
              </a:r>
              <a:r>
                <a:rPr lang="en-US" sz="3800" dirty="0" smtClean="0"/>
                <a:t>!!</a:t>
              </a:r>
              <a:endParaRPr lang="en-US" sz="3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793388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5433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Método hipotético deductivo</a:t>
            </a:r>
          </a:p>
          <a:p>
            <a:pPr>
              <a:lnSpc>
                <a:spcPct val="120000"/>
              </a:lnSpc>
            </a:pPr>
            <a:endParaRPr lang="es-CL" sz="800" i="1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r>
              <a:rPr lang="es-CL" sz="2400" b="1" dirty="0" smtClean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: 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¿C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uál es la probabilidad de obtener la asociación entre a y b en rojo de una población donde esa asociación no existe?</a:t>
            </a:r>
          </a:p>
          <a:p>
            <a:pPr>
              <a:lnSpc>
                <a:spcPct val="120000"/>
              </a:lnSpc>
            </a:pPr>
            <a:endParaRPr lang="es-CL" sz="2200" i="1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						</a:t>
            </a:r>
          </a:p>
          <a:p>
            <a:pPr>
              <a:lnSpc>
                <a:spcPct val="120000"/>
              </a:lnSpc>
            </a:pPr>
            <a:endParaRPr lang="es-CL" sz="2200" i="1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</a:p>
          <a:p>
            <a:pPr>
              <a:lnSpc>
                <a:spcPct val="80000"/>
              </a:lnSpc>
            </a:pPr>
            <a:r>
              <a:rPr lang="es-CL" sz="2200" i="1" dirty="0" smtClean="0">
                <a:solidFill>
                  <a:srgbClr val="800000"/>
                </a:solidFill>
                <a:latin typeface="Helvetica"/>
                <a:cs typeface="Helvetica"/>
              </a:rPr>
              <a:t>						</a:t>
            </a:r>
            <a:r>
              <a:rPr lang="es-CL" sz="2600" b="1" i="1" dirty="0" smtClean="0">
                <a:solidFill>
                  <a:srgbClr val="800000"/>
                </a:solidFill>
                <a:latin typeface="Helvetica"/>
                <a:cs typeface="Helvetica"/>
              </a:rPr>
              <a:t>P &lt; 0.001</a:t>
            </a:r>
          </a:p>
          <a:p>
            <a:pPr>
              <a:lnSpc>
                <a:spcPct val="80000"/>
              </a:lnSpc>
            </a:pP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						</a:t>
            </a:r>
            <a:r>
              <a:rPr lang="es-CL" sz="2000" dirty="0" smtClean="0">
                <a:solidFill>
                  <a:srgbClr val="000000"/>
                </a:solidFill>
                <a:latin typeface="Helvetica"/>
                <a:cs typeface="Helvetica"/>
              </a:rPr>
              <a:t>(menos que 1 en 1000!!)</a:t>
            </a:r>
          </a:p>
          <a:p>
            <a:pPr marL="179388"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36" r="7070" b="4424"/>
          <a:stretch/>
        </p:blipFill>
        <p:spPr bwMode="auto">
          <a:xfrm>
            <a:off x="323528" y="2688728"/>
            <a:ext cx="5328592" cy="40504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18698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383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400" b="1" dirty="0" smtClean="0">
                <a:solidFill>
                  <a:srgbClr val="000000"/>
                </a:solidFill>
                <a:latin typeface="Helvetica"/>
                <a:cs typeface="Helvetica"/>
              </a:rPr>
              <a:t>Trabajamos con dos hipótesis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50000"/>
              </a:lnSpc>
            </a:pPr>
            <a:r>
              <a:rPr lang="es-CL" sz="3200" b="1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3200" b="1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</a:t>
            </a:r>
            <a:r>
              <a:rPr lang="es-CL" sz="32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:</a:t>
            </a:r>
            <a:r>
              <a:rPr lang="es-CL" sz="3200" dirty="0" smtClean="0">
                <a:solidFill>
                  <a:srgbClr val="000000"/>
                </a:solidFill>
                <a:latin typeface="Helvetica"/>
                <a:cs typeface="Helvetica"/>
              </a:rPr>
              <a:t>  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hipótesis nula (lo esperado en ausencia de efecto)</a:t>
            </a:r>
            <a:r>
              <a:rPr lang="es-CL" sz="32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s-CL" sz="3200" b="1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3200" b="1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1</a:t>
            </a:r>
            <a:r>
              <a:rPr lang="es-CL" sz="28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:   hipótesis alternativa (presencia de un efecto)</a:t>
            </a:r>
            <a:r>
              <a:rPr lang="es-CL" sz="28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0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				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7544" y="4797152"/>
            <a:ext cx="8280920" cy="1512168"/>
          </a:xfrm>
          <a:prstGeom prst="roundRect">
            <a:avLst>
              <a:gd name="adj" fmla="val 9786"/>
            </a:avLst>
          </a:prstGeom>
          <a:solidFill>
            <a:srgbClr val="000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2400" b="1" dirty="0" smtClean="0">
                <a:solidFill>
                  <a:srgbClr val="FF0000"/>
                </a:solidFill>
                <a:latin typeface="Helvetica"/>
                <a:cs typeface="Helvetica"/>
              </a:rPr>
              <a:t>IMPORTANTE!!</a:t>
            </a:r>
            <a:r>
              <a:rPr lang="es-CL" sz="2400" b="1" dirty="0" smtClean="0">
                <a:solidFill>
                  <a:schemeClr val="tx1"/>
                </a:solidFill>
                <a:latin typeface="Helvetica"/>
                <a:cs typeface="Helvetica"/>
              </a:rPr>
              <a:t> </a:t>
            </a:r>
            <a:r>
              <a:rPr lang="es-CL" sz="2400" dirty="0" smtClean="0">
                <a:solidFill>
                  <a:schemeClr val="tx1"/>
                </a:solidFill>
                <a:latin typeface="Helvetica"/>
                <a:cs typeface="Helvetica"/>
              </a:rPr>
              <a:t>No podemos confirmar una hipótesis, solamente rechazarla. Por lo tanto, detectar un efecto implica rechazar H</a:t>
            </a:r>
            <a:r>
              <a:rPr lang="es-CL" sz="2400" baseline="-25000" dirty="0" smtClean="0">
                <a:solidFill>
                  <a:schemeClr val="tx1"/>
                </a:solidFill>
                <a:latin typeface="Helvetica"/>
                <a:cs typeface="Helvetica"/>
              </a:rPr>
              <a:t>0</a:t>
            </a:r>
            <a:endParaRPr lang="es-CL" sz="2400" baseline="-250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591517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5365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 smtClean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 smtClean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</a:p>
          <a:p>
            <a:pPr>
              <a:lnSpc>
                <a:spcPct val="120000"/>
              </a:lnSpc>
            </a:pPr>
            <a:endParaRPr lang="es-CL" sz="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Medimos 20 hombres y 20 mujeres, y obtenemos una altura promedio de 1,60 m y una desviación estándar de 0.2 m. Teniendo en cuenta que la altura tiene una distribución normal, ¿cual es la probabilidad de observar diferencias entre hombres y mujeres?</a:t>
            </a:r>
          </a:p>
          <a:p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algn="ctr">
              <a:lnSpc>
                <a:spcPct val="150000"/>
              </a:lnSpc>
            </a:pP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32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	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:</a:t>
            </a:r>
            <a:r>
              <a:rPr lang="es-CL" sz="3200" dirty="0" smtClean="0">
                <a:solidFill>
                  <a:srgbClr val="000000"/>
                </a:solidFill>
                <a:latin typeface="Helvetica"/>
                <a:cs typeface="Helvetica"/>
              </a:rPr>
              <a:t>  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H = M </a:t>
            </a:r>
            <a:r>
              <a:rPr lang="es-CL" sz="32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</a:p>
          <a:p>
            <a:pPr algn="ctr">
              <a:lnSpc>
                <a:spcPct val="150000"/>
              </a:lnSpc>
            </a:pPr>
            <a:r>
              <a:rPr lang="es-CL" sz="2800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28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1	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:  H ≠ M</a:t>
            </a:r>
            <a:r>
              <a:rPr lang="es-CL" sz="28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0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				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4679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280920" cy="5584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 smtClean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 smtClean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  <a:endParaRPr lang="es-CL" sz="2600" i="1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i="1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r>
              <a:rPr lang="es-CL" sz="2600" i="1" dirty="0" smtClean="0">
                <a:latin typeface="Helvetica"/>
                <a:cs typeface="Helvetica"/>
              </a:rPr>
              <a:t>Pasos</a:t>
            </a:r>
          </a:p>
          <a:p>
            <a:pPr marL="815975" indent="-457200">
              <a:lnSpc>
                <a:spcPct val="120000"/>
              </a:lnSpc>
              <a:buClr>
                <a:srgbClr val="FF6600"/>
              </a:buClr>
              <a:buFont typeface="+mj-lt"/>
              <a:buAutoNum type="arabicPeriod"/>
            </a:pP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Estimamos </a:t>
            </a:r>
            <a:r>
              <a:rPr lang="es-CL" sz="2200" b="1" dirty="0" smtClean="0">
                <a:solidFill>
                  <a:srgbClr val="000000"/>
                </a:solidFill>
                <a:latin typeface="Helvetica"/>
                <a:cs typeface="Helvetica"/>
              </a:rPr>
              <a:t>la distribución esperada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de altura promedio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M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para 20 mujeres con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μ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= 1.60 m y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σ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= 0.2 m.</a:t>
            </a:r>
          </a:p>
          <a:p>
            <a:pPr marL="815975" indent="-457200">
              <a:lnSpc>
                <a:spcPct val="120000"/>
              </a:lnSpc>
              <a:buClr>
                <a:srgbClr val="FF6600"/>
              </a:buClr>
              <a:buFont typeface="+mj-lt"/>
              <a:buAutoNum type="arabicPeriod"/>
            </a:pP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Estimamos </a:t>
            </a:r>
            <a:r>
              <a:rPr lang="es-CL" sz="2200" b="1" dirty="0" smtClean="0">
                <a:solidFill>
                  <a:srgbClr val="000000"/>
                </a:solidFill>
                <a:latin typeface="Helvetica"/>
                <a:cs typeface="Helvetica"/>
              </a:rPr>
              <a:t>la distribución esperada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de altura promedio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para 20 hombres (es lo mismo!). </a:t>
            </a:r>
          </a:p>
          <a:p>
            <a:pPr marL="815975" indent="-457200">
              <a:lnSpc>
                <a:spcPct val="120000"/>
              </a:lnSpc>
              <a:buClr>
                <a:srgbClr val="FF6600"/>
              </a:buClr>
              <a:buFont typeface="+mj-lt"/>
              <a:buAutoNum type="arabicPeriod"/>
            </a:pP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Estimamos </a:t>
            </a:r>
            <a:r>
              <a:rPr lang="es-CL" sz="2200" b="1" dirty="0" smtClean="0">
                <a:solidFill>
                  <a:srgbClr val="000000"/>
                </a:solidFill>
                <a:latin typeface="Helvetica"/>
                <a:cs typeface="Helvetica"/>
              </a:rPr>
              <a:t>la distribución esperada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de 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M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 –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H 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suponiendo que provienen de la misma distribución. </a:t>
            </a:r>
          </a:p>
          <a:p>
            <a:pPr marL="815975" indent="-457200">
              <a:lnSpc>
                <a:spcPct val="120000"/>
              </a:lnSpc>
              <a:buClr>
                <a:srgbClr val="FF6600"/>
              </a:buClr>
              <a:buFont typeface="+mj-lt"/>
              <a:buAutoNum type="arabicPeriod"/>
            </a:pP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Comparamos el valor real de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M – H 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en nuestra muestra con la distribución. </a:t>
            </a:r>
          </a:p>
          <a:p>
            <a:pPr marL="815975" indent="-457200">
              <a:lnSpc>
                <a:spcPct val="120000"/>
              </a:lnSpc>
              <a:buClr>
                <a:srgbClr val="FF6600"/>
              </a:buClr>
              <a:buFont typeface="+mj-lt"/>
              <a:buAutoNum type="arabicPeriod"/>
            </a:pP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Calculamos la probabilidad de 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2200" i="1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</a:t>
            </a:r>
            <a:r>
              <a:rPr lang="es-CL" sz="2200" i="1" dirty="0" smtClean="0">
                <a:solidFill>
                  <a:srgbClr val="000000"/>
                </a:solidFill>
                <a:latin typeface="Helvetica"/>
                <a:cs typeface="Helvetica"/>
              </a:rPr>
              <a:t>, que se acepta o se rechaza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.</a:t>
            </a:r>
            <a:r>
              <a:rPr lang="es-CL" sz="22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endParaRPr lang="es-CL" sz="2200" baseline="-250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950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280920" cy="55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  <a:endParaRPr lang="es-CL" sz="2600" i="1" dirty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96"/>
          <a:stretch/>
        </p:blipFill>
        <p:spPr bwMode="auto">
          <a:xfrm>
            <a:off x="179512" y="2104938"/>
            <a:ext cx="2930221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reeform 10"/>
          <p:cNvSpPr/>
          <p:nvPr/>
        </p:nvSpPr>
        <p:spPr>
          <a:xfrm>
            <a:off x="843865" y="2401434"/>
            <a:ext cx="1672465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rgbClr val="000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99592" y="6181854"/>
            <a:ext cx="2592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smtClean="0"/>
              <a:t>M</a:t>
            </a:r>
            <a:r>
              <a:rPr lang="en-US" dirty="0" smtClean="0"/>
              <a:t> </a:t>
            </a:r>
            <a:r>
              <a:rPr lang="en-US" baseline="-25000" dirty="0" err="1" smtClean="0"/>
              <a:t>esperado</a:t>
            </a:r>
            <a:r>
              <a:rPr lang="en-US" dirty="0" smtClean="0"/>
              <a:t> (m)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880828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1</a:t>
            </a:r>
            <a:endParaRPr lang="en-US" sz="2200" i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2153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280920" cy="55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  <a:endParaRPr lang="es-CL" sz="2600" i="1" dirty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22"/>
          <a:stretch/>
        </p:blipFill>
        <p:spPr bwMode="auto">
          <a:xfrm>
            <a:off x="179512" y="2104938"/>
            <a:ext cx="5746891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reeform 10"/>
          <p:cNvSpPr/>
          <p:nvPr/>
        </p:nvSpPr>
        <p:spPr>
          <a:xfrm>
            <a:off x="843865" y="2401434"/>
            <a:ext cx="1672465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rgbClr val="000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3707904" y="2401434"/>
            <a:ext cx="1672465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rgbClr val="80000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99592" y="6181854"/>
            <a:ext cx="2592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smtClean="0"/>
              <a:t>M</a:t>
            </a:r>
            <a:r>
              <a:rPr lang="en-US" dirty="0" smtClean="0"/>
              <a:t> </a:t>
            </a:r>
            <a:r>
              <a:rPr lang="en-US" baseline="-25000" dirty="0" err="1" smtClean="0"/>
              <a:t>esperado</a:t>
            </a:r>
            <a:r>
              <a:rPr lang="en-US" dirty="0" smtClean="0"/>
              <a:t> (m)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07904" y="6181854"/>
            <a:ext cx="2592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smtClean="0"/>
              <a:t>H</a:t>
            </a:r>
            <a:r>
              <a:rPr lang="en-US" dirty="0" smtClean="0"/>
              <a:t> </a:t>
            </a:r>
            <a:r>
              <a:rPr lang="en-US" baseline="-25000" dirty="0" err="1" smtClean="0"/>
              <a:t>esperado</a:t>
            </a:r>
            <a:r>
              <a:rPr lang="en-US" dirty="0" smtClean="0"/>
              <a:t> (m)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880828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1</a:t>
            </a:r>
            <a:endParaRPr lang="en-US" sz="2200" i="1" dirty="0">
              <a:solidFill>
                <a:srgbClr val="FF66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80943" y="1880828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2</a:t>
            </a:r>
            <a:endParaRPr lang="en-US" sz="2200" i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144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280920" cy="55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  <a:endParaRPr lang="es-CL" sz="2600" i="1" dirty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104938"/>
            <a:ext cx="854202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Freeform 10"/>
          <p:cNvSpPr/>
          <p:nvPr/>
        </p:nvSpPr>
        <p:spPr>
          <a:xfrm>
            <a:off x="843865" y="2401434"/>
            <a:ext cx="1672465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rgbClr val="000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3707904" y="2401434"/>
            <a:ext cx="1672465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rgbClr val="80000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99592" y="6181854"/>
            <a:ext cx="2592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smtClean="0"/>
              <a:t>M</a:t>
            </a:r>
            <a:r>
              <a:rPr lang="en-US" dirty="0" smtClean="0"/>
              <a:t> </a:t>
            </a:r>
            <a:r>
              <a:rPr lang="en-US" baseline="-25000" dirty="0" err="1" smtClean="0"/>
              <a:t>esperado</a:t>
            </a:r>
            <a:r>
              <a:rPr lang="en-US" dirty="0" smtClean="0"/>
              <a:t> (m)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07904" y="6181854"/>
            <a:ext cx="2592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smtClean="0"/>
              <a:t>H</a:t>
            </a:r>
            <a:r>
              <a:rPr lang="en-US" dirty="0" smtClean="0"/>
              <a:t> </a:t>
            </a:r>
            <a:r>
              <a:rPr lang="en-US" baseline="-25000" dirty="0" err="1" smtClean="0"/>
              <a:t>esperado</a:t>
            </a:r>
            <a:r>
              <a:rPr lang="en-US" dirty="0" smtClean="0"/>
              <a:t> (m)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6251348" y="2401434"/>
            <a:ext cx="2248529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chemeClr val="bg1">
              <a:lumMod val="75000"/>
              <a:alpha val="4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444208" y="6181854"/>
            <a:ext cx="2592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smtClean="0"/>
              <a:t>M - H</a:t>
            </a:r>
            <a:r>
              <a:rPr lang="en-US" dirty="0" smtClean="0"/>
              <a:t> </a:t>
            </a:r>
            <a:r>
              <a:rPr lang="en-US" baseline="-25000" dirty="0" err="1" smtClean="0"/>
              <a:t>esperado</a:t>
            </a:r>
            <a:r>
              <a:rPr lang="en-US" dirty="0" smtClean="0"/>
              <a:t> (m)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880828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1</a:t>
            </a:r>
            <a:endParaRPr lang="en-US" sz="2200" i="1" dirty="0">
              <a:solidFill>
                <a:srgbClr val="FF66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80943" y="1880828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2</a:t>
            </a:r>
            <a:endParaRPr lang="en-US" sz="2200" i="1" dirty="0">
              <a:solidFill>
                <a:srgbClr val="FF66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24128" y="1880828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3</a:t>
            </a:r>
            <a:endParaRPr lang="en-US" sz="2200" i="1" dirty="0">
              <a:solidFill>
                <a:srgbClr val="FF66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83118" y="3284984"/>
            <a:ext cx="8807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7200" i="1" dirty="0" smtClean="0"/>
              <a:t>–</a:t>
            </a:r>
            <a:r>
              <a:rPr lang="en-US" sz="7200" i="1" dirty="0" smtClean="0"/>
              <a:t> </a:t>
            </a:r>
            <a:endParaRPr lang="en-US" sz="7200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5292080" y="3284984"/>
            <a:ext cx="9496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7200" i="1" dirty="0" smtClean="0"/>
              <a:t>=</a:t>
            </a:r>
            <a:r>
              <a:rPr lang="en-US" sz="7200" i="1" dirty="0" smtClean="0"/>
              <a:t> </a:t>
            </a:r>
            <a:endParaRPr lang="en-US" sz="7200" i="1" dirty="0"/>
          </a:p>
        </p:txBody>
      </p:sp>
    </p:spTree>
    <p:extLst>
      <p:ext uri="{BB962C8B-B14F-4D97-AF65-F5344CB8AC3E}">
        <p14:creationId xmlns:p14="http://schemas.microsoft.com/office/powerpoint/2010/main" val="14353074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280920" cy="55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  <a:endParaRPr lang="es-CL" sz="2600" i="1" dirty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68" b="8879"/>
          <a:stretch/>
        </p:blipFill>
        <p:spPr bwMode="auto">
          <a:xfrm>
            <a:off x="1403648" y="2104938"/>
            <a:ext cx="7317884" cy="385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Freeform 25"/>
          <p:cNvSpPr/>
          <p:nvPr/>
        </p:nvSpPr>
        <p:spPr>
          <a:xfrm>
            <a:off x="2051721" y="2433994"/>
            <a:ext cx="6264695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chemeClr val="bg1">
              <a:lumMod val="75000"/>
              <a:alpha val="4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995936" y="618558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i="1" dirty="0" smtClean="0"/>
              <a:t>M - H</a:t>
            </a:r>
            <a:r>
              <a:rPr lang="en-US" sz="2400" dirty="0" smtClean="0"/>
              <a:t> </a:t>
            </a:r>
            <a:r>
              <a:rPr lang="en-US" sz="2400" baseline="-25000" dirty="0" err="1" smtClean="0"/>
              <a:t>esperado</a:t>
            </a:r>
            <a:r>
              <a:rPr lang="en-US" sz="2400" dirty="0" smtClean="0"/>
              <a:t> (m)</a:t>
            </a:r>
            <a:endParaRPr lang="en-US" sz="2400" i="1" dirty="0">
              <a:latin typeface="Arial"/>
              <a:cs typeface="Arial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707904" y="3933056"/>
            <a:ext cx="0" cy="1800200"/>
          </a:xfrm>
          <a:prstGeom prst="straightConnector1">
            <a:avLst/>
          </a:prstGeom>
          <a:ln w="508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267744" y="3068960"/>
            <a:ext cx="2592288" cy="7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err="1" smtClean="0"/>
              <a:t>Observado</a:t>
            </a:r>
            <a:endParaRPr lang="en-US" i="1" dirty="0" smtClean="0"/>
          </a:p>
          <a:p>
            <a:pPr>
              <a:lnSpc>
                <a:spcPct val="120000"/>
              </a:lnSpc>
            </a:pPr>
            <a:r>
              <a:rPr lang="en-US" i="1" dirty="0" smtClean="0"/>
              <a:t>M </a:t>
            </a:r>
            <a:r>
              <a:rPr lang="mr-IN" i="1" dirty="0" smtClean="0"/>
              <a:t>–</a:t>
            </a:r>
            <a:r>
              <a:rPr lang="en-US" i="1" dirty="0" smtClean="0"/>
              <a:t> H = - 0.15 m 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67744" y="2564904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4</a:t>
            </a:r>
            <a:endParaRPr lang="en-US" sz="2200" i="1" dirty="0">
              <a:solidFill>
                <a:srgbClr val="FF66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79712" y="5949280"/>
            <a:ext cx="6624736" cy="347965"/>
          </a:xfrm>
          <a:prstGeom prst="rect">
            <a:avLst/>
          </a:prstGeom>
          <a:solidFill>
            <a:srgbClr val="FFFFFF"/>
          </a:solidFill>
        </p:spPr>
        <p:txBody>
          <a:bodyPr wrap="square" tIns="7200" bIns="7200" rtlCol="0">
            <a:spAutoFit/>
          </a:bodyPr>
          <a:lstStyle/>
          <a:p>
            <a:pPr>
              <a:lnSpc>
                <a:spcPct val="110000"/>
              </a:lnSpc>
              <a:buClr>
                <a:srgbClr val="FF6600"/>
              </a:buClr>
            </a:pPr>
            <a:r>
              <a:rPr lang="en-US" sz="2000" dirty="0" smtClean="0">
                <a:latin typeface="Arial"/>
                <a:cs typeface="Arial"/>
              </a:rPr>
              <a:t>-0.2             -0.1		    0 	          0.1 	      0.2</a:t>
            </a:r>
          </a:p>
        </p:txBody>
      </p:sp>
    </p:spTree>
    <p:extLst>
      <p:ext uri="{BB962C8B-B14F-4D97-AF65-F5344CB8AC3E}">
        <p14:creationId xmlns:p14="http://schemas.microsoft.com/office/powerpoint/2010/main" val="30703736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280920" cy="55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  <a:endParaRPr lang="es-CL" sz="2600" i="1" dirty="0"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68" b="8879"/>
          <a:stretch/>
        </p:blipFill>
        <p:spPr bwMode="auto">
          <a:xfrm>
            <a:off x="1403648" y="2104938"/>
            <a:ext cx="7317884" cy="385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3995936" y="6185588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i="1" dirty="0" smtClean="0"/>
              <a:t>M - H</a:t>
            </a:r>
            <a:r>
              <a:rPr lang="en-US" sz="2400" dirty="0" smtClean="0"/>
              <a:t> </a:t>
            </a:r>
            <a:r>
              <a:rPr lang="en-US" sz="2400" baseline="-25000" dirty="0" err="1" smtClean="0"/>
              <a:t>esperado</a:t>
            </a:r>
            <a:r>
              <a:rPr lang="en-US" sz="2400" dirty="0" smtClean="0"/>
              <a:t> (m)</a:t>
            </a:r>
            <a:endParaRPr lang="en-US" sz="2400" i="1" dirty="0">
              <a:latin typeface="Arial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67744" y="3068960"/>
            <a:ext cx="2592288" cy="74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err="1" smtClean="0"/>
              <a:t>Observado</a:t>
            </a:r>
            <a:endParaRPr lang="en-US" i="1" dirty="0" smtClean="0"/>
          </a:p>
          <a:p>
            <a:pPr>
              <a:lnSpc>
                <a:spcPct val="120000"/>
              </a:lnSpc>
            </a:pPr>
            <a:r>
              <a:rPr lang="en-US" i="1" dirty="0" smtClean="0"/>
              <a:t>M </a:t>
            </a:r>
            <a:r>
              <a:rPr lang="mr-IN" i="1" dirty="0" smtClean="0"/>
              <a:t>–</a:t>
            </a:r>
            <a:r>
              <a:rPr lang="en-US" i="1" dirty="0" smtClean="0"/>
              <a:t> H = - 0.15 m 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67744" y="2564904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4</a:t>
            </a:r>
            <a:endParaRPr lang="en-US" sz="2200" i="1" dirty="0">
              <a:solidFill>
                <a:srgbClr val="FF66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79712" y="5949280"/>
            <a:ext cx="6624736" cy="347965"/>
          </a:xfrm>
          <a:prstGeom prst="rect">
            <a:avLst/>
          </a:prstGeom>
          <a:solidFill>
            <a:srgbClr val="FFFFFF"/>
          </a:solidFill>
        </p:spPr>
        <p:txBody>
          <a:bodyPr wrap="square" tIns="7200" bIns="7200" rtlCol="0">
            <a:spAutoFit/>
          </a:bodyPr>
          <a:lstStyle/>
          <a:p>
            <a:pPr>
              <a:lnSpc>
                <a:spcPct val="110000"/>
              </a:lnSpc>
              <a:buClr>
                <a:srgbClr val="FF6600"/>
              </a:buClr>
            </a:pPr>
            <a:r>
              <a:rPr lang="en-US" sz="2000" dirty="0" smtClean="0">
                <a:latin typeface="Arial"/>
                <a:cs typeface="Arial"/>
              </a:rPr>
              <a:t>-0.2             -0.1		    0 	          0.1 	      0.2</a:t>
            </a:r>
          </a:p>
        </p:txBody>
      </p:sp>
      <p:sp>
        <p:nvSpPr>
          <p:cNvPr id="14" name="Freeform 13"/>
          <p:cNvSpPr/>
          <p:nvPr/>
        </p:nvSpPr>
        <p:spPr>
          <a:xfrm>
            <a:off x="2051721" y="2433994"/>
            <a:ext cx="6264695" cy="3361432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chemeClr val="bg1">
              <a:lumMod val="75000"/>
              <a:alpha val="4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607"/>
          <a:stretch/>
        </p:blipFill>
        <p:spPr bwMode="auto">
          <a:xfrm>
            <a:off x="2267744" y="2908664"/>
            <a:ext cx="1444398" cy="28378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Arrow Connector 4"/>
          <p:cNvCxnSpPr/>
          <p:nvPr/>
        </p:nvCxnSpPr>
        <p:spPr>
          <a:xfrm>
            <a:off x="3707904" y="3933056"/>
            <a:ext cx="0" cy="1800200"/>
          </a:xfrm>
          <a:prstGeom prst="straightConnector1">
            <a:avLst/>
          </a:prstGeom>
          <a:ln w="50800">
            <a:solidFill>
              <a:srgbClr val="00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1835696" y="5085184"/>
            <a:ext cx="1440160" cy="504056"/>
          </a:xfrm>
          <a:prstGeom prst="straightConnector1">
            <a:avLst/>
          </a:prstGeom>
          <a:ln w="9525">
            <a:solidFill>
              <a:srgbClr val="000000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1560" y="4741694"/>
            <a:ext cx="25922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i="1" dirty="0" smtClean="0">
                <a:latin typeface="Arial"/>
                <a:cs typeface="Arial"/>
              </a:rPr>
              <a:t>P = 0.04</a:t>
            </a:r>
            <a:endParaRPr lang="en-US" i="1" dirty="0">
              <a:latin typeface="Arial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1560" y="4237638"/>
            <a:ext cx="11310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i="1" dirty="0" smtClean="0">
                <a:solidFill>
                  <a:srgbClr val="FF6600"/>
                </a:solidFill>
              </a:rPr>
              <a:t>Paso 5</a:t>
            </a:r>
            <a:endParaRPr lang="en-US" sz="2200" i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4713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Ejemplo</a:t>
            </a:r>
            <a:endParaRPr lang="sk-SK" dirty="0">
              <a:latin typeface="Franklin Gothic Book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6411" y="2564904"/>
            <a:ext cx="2356414" cy="3960440"/>
          </a:xfrm>
          <a:prstGeom prst="rect">
            <a:avLst/>
          </a:prstGeom>
          <a:solidFill>
            <a:srgbClr val="000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ight Arrow 1"/>
          <p:cNvSpPr/>
          <p:nvPr/>
        </p:nvSpPr>
        <p:spPr>
          <a:xfrm>
            <a:off x="4827301" y="3933056"/>
            <a:ext cx="1832931" cy="100811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876256" y="4048036"/>
            <a:ext cx="211240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800" i="1" dirty="0" smtClean="0">
                <a:solidFill>
                  <a:srgbClr val="000090"/>
                </a:solidFill>
              </a:rPr>
              <a:t>P = 0.04</a:t>
            </a:r>
            <a:endParaRPr lang="en-US" sz="3800" i="1" dirty="0">
              <a:solidFill>
                <a:srgbClr val="000090"/>
              </a:solidFill>
            </a:endParaRPr>
          </a:p>
        </p:txBody>
      </p:sp>
      <p:pic>
        <p:nvPicPr>
          <p:cNvPr id="10" name="Picture 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235" y="1340768"/>
            <a:ext cx="3675285" cy="24482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395536" y="1124744"/>
            <a:ext cx="8280920" cy="5424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600" b="1" dirty="0">
                <a:solidFill>
                  <a:srgbClr val="000000"/>
                </a:solidFill>
                <a:latin typeface="Helvetica"/>
                <a:cs typeface="Helvetica"/>
              </a:rPr>
              <a:t>Ejemplo</a:t>
            </a:r>
            <a:r>
              <a:rPr lang="es-CL" sz="2600" dirty="0">
                <a:solidFill>
                  <a:srgbClr val="000000"/>
                </a:solidFill>
                <a:latin typeface="Helvetica"/>
                <a:cs typeface="Helvetica"/>
              </a:rPr>
              <a:t>: Diferencias de altura entre sexos</a:t>
            </a:r>
            <a:endParaRPr lang="es-CL" sz="2600" dirty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sz="800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sz="800" dirty="0" smtClean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r>
              <a:rPr lang="en-US" sz="2400" dirty="0" smtClean="0">
                <a:solidFill>
                  <a:srgbClr val="000090"/>
                </a:solidFill>
                <a:latin typeface="Helvetica"/>
                <a:cs typeface="Helvetica"/>
              </a:rPr>
              <a:t>En la </a:t>
            </a:r>
            <a:r>
              <a:rPr lang="en-US" sz="2400" dirty="0" err="1" smtClean="0">
                <a:solidFill>
                  <a:srgbClr val="000090"/>
                </a:solidFill>
                <a:latin typeface="Helvetica"/>
                <a:cs typeface="Helvetica"/>
              </a:rPr>
              <a:t>práctica</a:t>
            </a:r>
            <a:endParaRPr lang="en-US" sz="2400" dirty="0" smtClean="0">
              <a:solidFill>
                <a:srgbClr val="00009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sz="1200" dirty="0"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r>
              <a:rPr lang="en-US" sz="2400" dirty="0" smtClean="0">
                <a:latin typeface="Helvetica"/>
                <a:cs typeface="Helvetica"/>
              </a:rPr>
              <a:t>		</a:t>
            </a:r>
            <a:r>
              <a:rPr lang="en-US" sz="2000" dirty="0" err="1" smtClean="0">
                <a:latin typeface="Helvetica"/>
                <a:cs typeface="Helvetica"/>
              </a:rPr>
              <a:t>Sexo</a:t>
            </a:r>
            <a:r>
              <a:rPr lang="en-US" sz="2000" dirty="0" smtClean="0">
                <a:latin typeface="Helvetica"/>
                <a:cs typeface="Helvetica"/>
              </a:rPr>
              <a:t> 	</a:t>
            </a:r>
            <a:r>
              <a:rPr lang="en-US" sz="2000" dirty="0" err="1" smtClean="0">
                <a:latin typeface="Helvetica"/>
                <a:cs typeface="Helvetica"/>
              </a:rPr>
              <a:t>Altura</a:t>
            </a:r>
            <a:endParaRPr lang="en-US" sz="2000" dirty="0">
              <a:latin typeface="Helvetica"/>
              <a:cs typeface="Helvetica"/>
            </a:endParaRPr>
          </a:p>
          <a:p>
            <a:pPr marL="979488">
              <a:lnSpc>
                <a:spcPct val="110000"/>
              </a:lnSpc>
            </a:pPr>
            <a:r>
              <a:rPr lang="en-US" sz="2000" dirty="0" smtClean="0">
                <a:latin typeface="Helvetica"/>
                <a:cs typeface="Helvetica"/>
              </a:rPr>
              <a:t>	H	1.54</a:t>
            </a:r>
          </a:p>
          <a:p>
            <a:pPr marL="979488">
              <a:lnSpc>
                <a:spcPct val="110000"/>
              </a:lnSpc>
            </a:pPr>
            <a:r>
              <a:rPr lang="en-US" sz="2000" dirty="0" smtClean="0">
                <a:latin typeface="Helvetica"/>
                <a:cs typeface="Helvetica"/>
              </a:rPr>
              <a:t>	H	1.66</a:t>
            </a:r>
          </a:p>
          <a:p>
            <a:pPr marL="979488">
              <a:lnSpc>
                <a:spcPct val="110000"/>
              </a:lnSpc>
            </a:pPr>
            <a:r>
              <a:rPr lang="en-US" sz="2000" dirty="0" smtClean="0">
                <a:latin typeface="Helvetica"/>
                <a:cs typeface="Helvetica"/>
              </a:rPr>
              <a:t>	H	1.72</a:t>
            </a:r>
          </a:p>
          <a:p>
            <a:pPr marL="90488">
              <a:lnSpc>
                <a:spcPct val="110000"/>
              </a:lnSpc>
            </a:pPr>
            <a:r>
              <a:rPr lang="en-US" sz="2400" dirty="0" err="1" smtClean="0">
                <a:latin typeface="Helvetica"/>
                <a:cs typeface="Helvetica"/>
              </a:rPr>
              <a:t>Datos</a:t>
            </a:r>
            <a:r>
              <a:rPr lang="en-US" sz="2000" dirty="0" smtClean="0">
                <a:latin typeface="Helvetica"/>
                <a:cs typeface="Helvetica"/>
              </a:rPr>
              <a:t>		H	1.58</a:t>
            </a:r>
          </a:p>
          <a:p>
            <a:pPr marL="979488">
              <a:lnSpc>
                <a:spcPct val="110000"/>
              </a:lnSpc>
            </a:pPr>
            <a:r>
              <a:rPr lang="es-ES_tradnl" sz="2000" dirty="0" smtClean="0">
                <a:latin typeface="Helvetica"/>
                <a:cs typeface="Helvetica"/>
              </a:rPr>
              <a:t>	</a:t>
            </a:r>
            <a:r>
              <a:rPr lang="mr-IN" sz="2000" dirty="0" smtClean="0">
                <a:latin typeface="Helvetica"/>
                <a:cs typeface="Helvetica"/>
              </a:rPr>
              <a:t>…</a:t>
            </a:r>
            <a:r>
              <a:rPr lang="es-ES_tradnl" sz="2000" dirty="0" smtClean="0">
                <a:latin typeface="Helvetica"/>
                <a:cs typeface="Helvetica"/>
              </a:rPr>
              <a:t>	</a:t>
            </a:r>
            <a:r>
              <a:rPr lang="mr-IN" sz="2000" dirty="0" smtClean="0">
                <a:latin typeface="Helvetica"/>
                <a:cs typeface="Helvetica"/>
              </a:rPr>
              <a:t>…</a:t>
            </a:r>
            <a:endParaRPr lang="es-ES_tradnl" sz="2000" dirty="0" smtClean="0">
              <a:latin typeface="Helvetica"/>
              <a:cs typeface="Helvetica"/>
            </a:endParaRPr>
          </a:p>
          <a:p>
            <a:pPr marL="979488">
              <a:lnSpc>
                <a:spcPct val="110000"/>
              </a:lnSpc>
            </a:pPr>
            <a:r>
              <a:rPr lang="es-ES_tradnl" sz="2000" dirty="0" smtClean="0">
                <a:latin typeface="Helvetica"/>
                <a:cs typeface="Helvetica"/>
              </a:rPr>
              <a:t>	M	1.55</a:t>
            </a:r>
          </a:p>
          <a:p>
            <a:pPr marL="979488">
              <a:lnSpc>
                <a:spcPct val="110000"/>
              </a:lnSpc>
            </a:pPr>
            <a:r>
              <a:rPr lang="es-ES_tradnl" sz="2000" dirty="0" smtClean="0">
                <a:latin typeface="Helvetica"/>
                <a:cs typeface="Helvetica"/>
              </a:rPr>
              <a:t>	M	1.65</a:t>
            </a:r>
          </a:p>
          <a:p>
            <a:pPr marL="979488">
              <a:lnSpc>
                <a:spcPct val="110000"/>
              </a:lnSpc>
            </a:pPr>
            <a:r>
              <a:rPr lang="es-ES_tradnl" sz="2000" dirty="0" smtClean="0">
                <a:latin typeface="Helvetica"/>
                <a:cs typeface="Helvetica"/>
              </a:rPr>
              <a:t>	M	1.62</a:t>
            </a:r>
          </a:p>
          <a:p>
            <a:pPr marL="979488">
              <a:lnSpc>
                <a:spcPct val="110000"/>
              </a:lnSpc>
            </a:pPr>
            <a:r>
              <a:rPr lang="es-ES_tradnl" sz="2000" dirty="0" smtClean="0">
                <a:latin typeface="Helvetica"/>
                <a:cs typeface="Helvetica"/>
              </a:rPr>
              <a:t>	M	1.53</a:t>
            </a:r>
          </a:p>
          <a:p>
            <a:pPr marL="979488">
              <a:lnSpc>
                <a:spcPct val="110000"/>
              </a:lnSpc>
            </a:pPr>
            <a:r>
              <a:rPr lang="es-ES_tradnl" sz="2000" dirty="0" smtClean="0">
                <a:latin typeface="Helvetica"/>
                <a:cs typeface="Helvetica"/>
              </a:rPr>
              <a:t>	</a:t>
            </a:r>
            <a:r>
              <a:rPr lang="mr-IN" sz="2000" dirty="0" smtClean="0">
                <a:latin typeface="Helvetica"/>
                <a:cs typeface="Helvetica"/>
              </a:rPr>
              <a:t>…</a:t>
            </a:r>
            <a:r>
              <a:rPr lang="es-ES_tradnl" sz="2000" dirty="0">
                <a:latin typeface="Helvetica"/>
                <a:cs typeface="Helvetica"/>
              </a:rPr>
              <a:t>	</a:t>
            </a:r>
            <a:r>
              <a:rPr lang="mr-IN" sz="2000" dirty="0" smtClean="0">
                <a:latin typeface="Helvetica"/>
                <a:cs typeface="Helvetica"/>
              </a:rPr>
              <a:t>…</a:t>
            </a:r>
            <a:r>
              <a:rPr lang="es-ES_tradnl" sz="2000" dirty="0" smtClean="0">
                <a:latin typeface="Helvetica"/>
                <a:cs typeface="Helvetica"/>
              </a:rPr>
              <a:t> </a:t>
            </a:r>
            <a:endParaRPr lang="en-US" sz="2000" dirty="0" smtClean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56591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3835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400" b="1" dirty="0" smtClean="0">
                <a:solidFill>
                  <a:srgbClr val="000000"/>
                </a:solidFill>
                <a:latin typeface="Helvetica"/>
                <a:cs typeface="Helvetica"/>
              </a:rPr>
              <a:t>Trabajamos con dos hipótesis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50000"/>
              </a:lnSpc>
            </a:pPr>
            <a:r>
              <a:rPr lang="es-CL" sz="3200" b="1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3200" b="1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</a:t>
            </a:r>
            <a:r>
              <a:rPr lang="es-CL" sz="32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:</a:t>
            </a:r>
            <a:r>
              <a:rPr lang="es-CL" sz="3200" dirty="0" smtClean="0">
                <a:solidFill>
                  <a:srgbClr val="000000"/>
                </a:solidFill>
                <a:latin typeface="Helvetica"/>
                <a:cs typeface="Helvetica"/>
              </a:rPr>
              <a:t>  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hipótesis nula (lo esperado en ausencia de efecto)</a:t>
            </a:r>
            <a:r>
              <a:rPr lang="es-CL" sz="32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s-CL" sz="3200" b="1" dirty="0" smtClean="0">
                <a:solidFill>
                  <a:srgbClr val="000000"/>
                </a:solidFill>
                <a:latin typeface="Helvetica"/>
                <a:cs typeface="Helvetica"/>
              </a:rPr>
              <a:t>H</a:t>
            </a:r>
            <a:r>
              <a:rPr lang="es-CL" sz="3200" b="1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1</a:t>
            </a:r>
            <a:r>
              <a:rPr lang="es-CL" sz="28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:   hipótesis alternativa (presencia de un efecto)</a:t>
            </a:r>
            <a:r>
              <a:rPr lang="es-CL" sz="28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000" dirty="0" smtClean="0">
                <a:solidFill>
                  <a:srgbClr val="000000"/>
                </a:solidFill>
                <a:latin typeface="Helvetica"/>
                <a:cs typeface="Helvetica"/>
              </a:rPr>
              <a:t>	</a:t>
            </a:r>
            <a:r>
              <a:rPr lang="es-CL" sz="2200" dirty="0" smtClean="0">
                <a:solidFill>
                  <a:srgbClr val="000000"/>
                </a:solidFill>
                <a:latin typeface="Helvetica"/>
                <a:cs typeface="Helvetica"/>
              </a:rPr>
              <a:t>				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9512" y="4797152"/>
            <a:ext cx="8784976" cy="1512168"/>
          </a:xfrm>
          <a:prstGeom prst="roundRect">
            <a:avLst>
              <a:gd name="adj" fmla="val 9786"/>
            </a:avLst>
          </a:prstGeom>
          <a:solidFill>
            <a:srgbClr val="9B2D1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600" dirty="0" smtClean="0">
                <a:solidFill>
                  <a:schemeClr val="tx1"/>
                </a:solidFill>
                <a:latin typeface="Helvetica"/>
                <a:cs typeface="Helvetica"/>
              </a:rPr>
              <a:t>Decisión: ¿Aceptamos o rechazamos H</a:t>
            </a:r>
            <a:r>
              <a:rPr lang="es-CL" sz="3600" baseline="-25000" dirty="0" smtClean="0">
                <a:solidFill>
                  <a:schemeClr val="tx1"/>
                </a:solidFill>
                <a:latin typeface="Helvetica"/>
                <a:cs typeface="Helvetica"/>
              </a:rPr>
              <a:t>0</a:t>
            </a:r>
            <a:r>
              <a:rPr lang="es-CL" sz="3600" dirty="0" smtClean="0">
                <a:solidFill>
                  <a:schemeClr val="tx1"/>
                </a:solidFill>
                <a:latin typeface="Helvetica"/>
                <a:cs typeface="Helvetica"/>
              </a:rPr>
              <a:t>?</a:t>
            </a:r>
            <a:endParaRPr lang="es-CL" sz="36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505035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5679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800" b="1" dirty="0" smtClean="0">
                <a:solidFill>
                  <a:srgbClr val="000000"/>
                </a:solidFill>
                <a:latin typeface="Helvetica"/>
                <a:cs typeface="Helvetica"/>
              </a:rPr>
              <a:t>Toma de decisiones:</a:t>
            </a:r>
            <a:r>
              <a:rPr lang="es-CL" sz="2800" b="1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600" b="1" dirty="0" smtClean="0">
                <a:solidFill>
                  <a:srgbClr val="000000"/>
                </a:solidFill>
                <a:latin typeface="Helvetica"/>
                <a:cs typeface="Helvetica"/>
              </a:rPr>
              <a:t>Distintos tipos de error</a:t>
            </a: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r>
              <a:rPr lang="es-CL" sz="2600" dirty="0" smtClean="0">
                <a:solidFill>
                  <a:srgbClr val="000000"/>
                </a:solidFill>
                <a:latin typeface="Helvetica"/>
                <a:cs typeface="Helvetica"/>
              </a:rPr>
              <a:t>Formalmente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55991" y="2587154"/>
            <a:ext cx="8199084" cy="2764989"/>
            <a:chOff x="655991" y="2852936"/>
            <a:chExt cx="8199084" cy="2764989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114"/>
            <a:stretch/>
          </p:blipFill>
          <p:spPr bwMode="auto">
            <a:xfrm>
              <a:off x="655991" y="2852936"/>
              <a:ext cx="8199084" cy="2764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3800709" y="3068960"/>
              <a:ext cx="157757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Acepto</a:t>
              </a:r>
              <a:r>
                <a:rPr lang="en-US" sz="2400" dirty="0" smtClean="0"/>
                <a:t> H</a:t>
              </a:r>
              <a:r>
                <a:rPr lang="en-US" sz="2400" baseline="-25000" dirty="0" smtClean="0"/>
                <a:t>0</a:t>
              </a:r>
              <a:endParaRPr lang="en-US" sz="2400" baseline="-25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32240" y="3068960"/>
              <a:ext cx="182128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Rechazo</a:t>
              </a:r>
              <a:r>
                <a:rPr lang="en-US" sz="2400" dirty="0" smtClean="0"/>
                <a:t> H</a:t>
              </a:r>
              <a:r>
                <a:rPr lang="en-US" sz="2400" baseline="-25000" dirty="0" smtClean="0"/>
                <a:t>0</a:t>
              </a:r>
              <a:endParaRPr lang="en-US" sz="2400" baseline="-25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7584" y="4008399"/>
              <a:ext cx="19924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H</a:t>
              </a:r>
              <a:r>
                <a:rPr lang="en-US" sz="2400" baseline="-25000" dirty="0" smtClean="0"/>
                <a:t>0</a:t>
              </a:r>
              <a:r>
                <a:rPr lang="en-US" sz="2400" dirty="0"/>
                <a:t> </a:t>
              </a:r>
              <a:r>
                <a:rPr lang="en-US" sz="2400" dirty="0" err="1" smtClean="0"/>
                <a:t>verdadera</a:t>
              </a:r>
              <a:endParaRPr lang="en-US" sz="2400" baseline="-25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7584" y="4787860"/>
              <a:ext cx="504056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H</a:t>
              </a:r>
              <a:r>
                <a:rPr lang="en-US" sz="2400" baseline="-25000" dirty="0" smtClean="0"/>
                <a:t>0</a:t>
              </a:r>
              <a:r>
                <a:rPr lang="en-US" sz="2400" dirty="0"/>
                <a:t> </a:t>
              </a:r>
              <a:r>
                <a:rPr lang="en-US" sz="2400" dirty="0" err="1" smtClean="0"/>
                <a:t>falsa</a:t>
              </a:r>
              <a:r>
                <a:rPr lang="en-US" sz="2400" dirty="0" smtClean="0"/>
                <a:t>                     Error </a:t>
              </a:r>
              <a:r>
                <a:rPr lang="en-US" sz="2400" dirty="0" err="1" smtClean="0"/>
                <a:t>tipo</a:t>
              </a:r>
              <a:r>
                <a:rPr lang="en-US" sz="2400" dirty="0" smtClean="0"/>
                <a:t> II (β)    </a:t>
              </a:r>
              <a:endParaRPr lang="en-US" sz="2400" baseline="-25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58679" y="4008399"/>
              <a:ext cx="208978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Error </a:t>
              </a:r>
              <a:r>
                <a:rPr lang="en-US" sz="2400" dirty="0" err="1" smtClean="0"/>
                <a:t>tipo</a:t>
              </a:r>
              <a:r>
                <a:rPr lang="en-US" sz="2400" dirty="0" smtClean="0"/>
                <a:t> I (α)</a:t>
              </a:r>
              <a:endParaRPr lang="en-US" sz="2400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04248" y="4581128"/>
              <a:ext cx="618729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8000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✔</a:t>
              </a:r>
              <a:endParaRPr lang="en-US" sz="4000" baseline="-25000" dirty="0">
                <a:solidFill>
                  <a:srgbClr val="008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79912" y="3789040"/>
              <a:ext cx="618729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8000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✔</a:t>
              </a:r>
              <a:endParaRPr lang="en-US" sz="4000" baseline="-25000" dirty="0">
                <a:solidFill>
                  <a:srgbClr val="008000"/>
                </a:solidFill>
              </a:endParaRPr>
            </a:p>
          </p:txBody>
        </p:sp>
      </p:grpSp>
      <p:pic>
        <p:nvPicPr>
          <p:cNvPr id="16" name="Picture 2" descr="\begin{matrix}&#10;P(\mbox{escoger } H_1 | H_0 \mbox{ es cierta} ) = \alpha \\&#10;P(\mbox{escoger } H_0 | H_1 \mbox{ es cierta} ) = \beta  \end{matrix}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5661248"/>
            <a:ext cx="512735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791862" y="2708920"/>
            <a:ext cx="7920880" cy="2520280"/>
          </a:xfrm>
          <a:prstGeom prst="rect">
            <a:avLst/>
          </a:prstGeom>
          <a:solidFill>
            <a:srgbClr val="00009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071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5279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800" b="1" dirty="0" smtClean="0">
                <a:solidFill>
                  <a:srgbClr val="000000"/>
                </a:solidFill>
                <a:latin typeface="Helvetica"/>
                <a:cs typeface="Helvetica"/>
              </a:rPr>
              <a:t>Toma de decisiones:</a:t>
            </a:r>
            <a:r>
              <a:rPr lang="es-CL" sz="2800" b="1" dirty="0" smtClean="0">
                <a:solidFill>
                  <a:srgbClr val="000000"/>
                </a:solidFill>
                <a:latin typeface="Helvetica"/>
                <a:cs typeface="Helvetica"/>
              </a:rPr>
              <a:t> </a:t>
            </a:r>
            <a:r>
              <a:rPr lang="es-CL" sz="2600" b="1" dirty="0" smtClean="0">
                <a:solidFill>
                  <a:srgbClr val="000000"/>
                </a:solidFill>
                <a:latin typeface="Helvetica"/>
                <a:cs typeface="Helvetica"/>
              </a:rPr>
              <a:t>Distintos tipos de error</a:t>
            </a: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endParaRPr lang="es-CL" sz="26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55991" y="2587154"/>
            <a:ext cx="8199084" cy="2764989"/>
            <a:chOff x="655991" y="2852936"/>
            <a:chExt cx="8199084" cy="2764989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114"/>
            <a:stretch/>
          </p:blipFill>
          <p:spPr bwMode="auto">
            <a:xfrm>
              <a:off x="655991" y="2852936"/>
              <a:ext cx="8199084" cy="2764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3800709" y="3068960"/>
              <a:ext cx="157757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Acepto</a:t>
              </a:r>
              <a:r>
                <a:rPr lang="en-US" sz="2400" dirty="0" smtClean="0"/>
                <a:t> H</a:t>
              </a:r>
              <a:r>
                <a:rPr lang="en-US" sz="2400" baseline="-25000" dirty="0" smtClean="0"/>
                <a:t>0</a:t>
              </a:r>
              <a:endParaRPr lang="en-US" sz="2400" baseline="-250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732240" y="3068960"/>
              <a:ext cx="182128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err="1" smtClean="0"/>
                <a:t>Rechazo</a:t>
              </a:r>
              <a:r>
                <a:rPr lang="en-US" sz="2400" dirty="0" smtClean="0"/>
                <a:t> H</a:t>
              </a:r>
              <a:r>
                <a:rPr lang="en-US" sz="2400" baseline="-25000" dirty="0" smtClean="0"/>
                <a:t>0</a:t>
              </a:r>
              <a:endParaRPr lang="en-US" sz="2400" baseline="-250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27584" y="4008399"/>
              <a:ext cx="199245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H</a:t>
              </a:r>
              <a:r>
                <a:rPr lang="en-US" sz="2400" baseline="-25000" dirty="0" smtClean="0"/>
                <a:t>0</a:t>
              </a:r>
              <a:r>
                <a:rPr lang="en-US" sz="2400" dirty="0"/>
                <a:t> </a:t>
              </a:r>
              <a:r>
                <a:rPr lang="en-US" sz="2400" dirty="0" err="1" smtClean="0"/>
                <a:t>verdadera</a:t>
              </a:r>
              <a:endParaRPr lang="en-US" sz="2400" baseline="-25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7584" y="4787860"/>
              <a:ext cx="504056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H</a:t>
              </a:r>
              <a:r>
                <a:rPr lang="en-US" sz="2400" baseline="-25000" dirty="0" smtClean="0"/>
                <a:t>0</a:t>
              </a:r>
              <a:r>
                <a:rPr lang="en-US" sz="2400" dirty="0"/>
                <a:t> </a:t>
              </a:r>
              <a:r>
                <a:rPr lang="en-US" sz="2400" dirty="0" err="1" smtClean="0"/>
                <a:t>falsa</a:t>
              </a:r>
              <a:r>
                <a:rPr lang="en-US" sz="2400" dirty="0" smtClean="0"/>
                <a:t>                     Error </a:t>
              </a:r>
              <a:r>
                <a:rPr lang="en-US" sz="2400" dirty="0" err="1" smtClean="0"/>
                <a:t>tipo</a:t>
              </a:r>
              <a:r>
                <a:rPr lang="en-US" sz="2400" dirty="0" smtClean="0"/>
                <a:t> II (β)    </a:t>
              </a:r>
              <a:endParaRPr lang="en-US" sz="2400" baseline="-250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58679" y="4008399"/>
              <a:ext cx="208978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Error </a:t>
              </a:r>
              <a:r>
                <a:rPr lang="en-US" sz="2400" dirty="0" err="1" smtClean="0"/>
                <a:t>tipo</a:t>
              </a:r>
              <a:r>
                <a:rPr lang="en-US" sz="2400" dirty="0" smtClean="0"/>
                <a:t> I (α)</a:t>
              </a:r>
              <a:endParaRPr lang="en-US" sz="2400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04248" y="4581128"/>
              <a:ext cx="618729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8000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✔</a:t>
              </a:r>
              <a:endParaRPr lang="en-US" sz="4000" baseline="-25000" dirty="0">
                <a:solidFill>
                  <a:srgbClr val="008000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79912" y="3789040"/>
              <a:ext cx="618729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8000"/>
                  </a:solidFill>
                  <a:latin typeface="Zapf Dingbats"/>
                  <a:ea typeface="Zapf Dingbats"/>
                  <a:cs typeface="Zapf Dingbats"/>
                  <a:sym typeface="Zapf Dingbats"/>
                </a:rPr>
                <a:t>✔</a:t>
              </a:r>
              <a:endParaRPr lang="en-US" sz="4000" baseline="-25000" dirty="0">
                <a:solidFill>
                  <a:srgbClr val="008000"/>
                </a:solidFill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791862" y="2708920"/>
            <a:ext cx="7920880" cy="2520280"/>
          </a:xfrm>
          <a:prstGeom prst="rect">
            <a:avLst/>
          </a:prstGeom>
          <a:solidFill>
            <a:srgbClr val="00009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55576" y="2420888"/>
            <a:ext cx="8136904" cy="388843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27584" y="5373216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200" b="1" dirty="0">
                <a:latin typeface="Helvetica"/>
                <a:cs typeface="Helvetica"/>
              </a:rPr>
              <a:t>IMPORTANTE: </a:t>
            </a:r>
            <a:r>
              <a:rPr lang="es-CL" sz="2200" dirty="0">
                <a:latin typeface="Helvetica"/>
                <a:cs typeface="Helvetica"/>
              </a:rPr>
              <a:t>Estudiar para la evaluación del práctico de la próxima semana</a:t>
            </a:r>
          </a:p>
        </p:txBody>
      </p:sp>
    </p:spTree>
    <p:extLst>
      <p:ext uri="{BB962C8B-B14F-4D97-AF65-F5344CB8AC3E}">
        <p14:creationId xmlns:p14="http://schemas.microsoft.com/office/powerpoint/2010/main" val="356507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476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800" b="1" dirty="0" smtClean="0">
                <a:solidFill>
                  <a:srgbClr val="000000"/>
                </a:solidFill>
                <a:latin typeface="Helvetica"/>
                <a:cs typeface="Helvetica"/>
              </a:rPr>
              <a:t>Toma de decisiones:</a:t>
            </a: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s-CL" sz="24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Nivel de significancia  = probabilidad de rechazar H</a:t>
            </a:r>
            <a:r>
              <a:rPr lang="es-CL" sz="24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 				                 incorrectamente</a:t>
            </a: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			   = P(error de tipo I)</a:t>
            </a:r>
          </a:p>
          <a:p>
            <a:pPr>
              <a:lnSpc>
                <a:spcPct val="110000"/>
              </a:lnSpc>
            </a:pPr>
            <a:endParaRPr lang="es-CL" sz="24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Poder estadístico	= probabilidad de rechazar H</a:t>
            </a:r>
            <a:r>
              <a:rPr lang="es-CL" sz="24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 				   	   correctamente</a:t>
            </a: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			= 1 – P(error de tipo II)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7544" y="5373216"/>
            <a:ext cx="8280920" cy="1152128"/>
          </a:xfrm>
          <a:prstGeom prst="roundRect">
            <a:avLst>
              <a:gd name="adj" fmla="val 9786"/>
            </a:avLst>
          </a:prstGeom>
          <a:solidFill>
            <a:srgbClr val="9B2D1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sz="2600" dirty="0" err="1" smtClean="0">
                <a:solidFill>
                  <a:schemeClr val="tx1"/>
                </a:solidFill>
                <a:latin typeface="Helvetica"/>
                <a:cs typeface="Helvetica"/>
              </a:rPr>
              <a:t>Queremos</a:t>
            </a:r>
            <a:r>
              <a:rPr lang="en-US" sz="2600" dirty="0" smtClean="0">
                <a:solidFill>
                  <a:schemeClr val="tx1"/>
                </a:solidFill>
                <a:latin typeface="Helvetica"/>
                <a:cs typeface="Helvetica"/>
              </a:rPr>
              <a:t> la </a:t>
            </a:r>
            <a:r>
              <a:rPr lang="en-US" sz="2600" dirty="0" err="1" smtClean="0">
                <a:solidFill>
                  <a:schemeClr val="tx1"/>
                </a:solidFill>
                <a:latin typeface="Helvetica"/>
                <a:cs typeface="Helvetica"/>
              </a:rPr>
              <a:t>significancia</a:t>
            </a:r>
            <a:r>
              <a:rPr lang="en-US" sz="2600" dirty="0" smtClean="0">
                <a:solidFill>
                  <a:schemeClr val="tx1"/>
                </a:solidFill>
                <a:latin typeface="Helvetica"/>
                <a:cs typeface="Helvetica"/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  <a:latin typeface="Helvetica"/>
                <a:cs typeface="Helvetica"/>
              </a:rPr>
              <a:t>cercana</a:t>
            </a:r>
            <a:r>
              <a:rPr lang="en-US" sz="2600" dirty="0" smtClean="0">
                <a:solidFill>
                  <a:schemeClr val="tx1"/>
                </a:solidFill>
                <a:latin typeface="Helvetica"/>
                <a:cs typeface="Helvetica"/>
              </a:rPr>
              <a:t> a 0 y el </a:t>
            </a:r>
            <a:r>
              <a:rPr lang="en-US" sz="2600" dirty="0" err="1" smtClean="0">
                <a:solidFill>
                  <a:schemeClr val="tx1"/>
                </a:solidFill>
                <a:latin typeface="Helvetica"/>
                <a:cs typeface="Helvetica"/>
              </a:rPr>
              <a:t>poder</a:t>
            </a:r>
            <a:r>
              <a:rPr lang="en-US" sz="2600" dirty="0" smtClean="0">
                <a:solidFill>
                  <a:schemeClr val="tx1"/>
                </a:solidFill>
                <a:latin typeface="Helvetica"/>
                <a:cs typeface="Helvetica"/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  <a:latin typeface="Helvetica"/>
                <a:cs typeface="Helvetica"/>
              </a:rPr>
              <a:t>estadístico</a:t>
            </a:r>
            <a:r>
              <a:rPr lang="en-US" sz="2600" dirty="0" smtClean="0">
                <a:solidFill>
                  <a:schemeClr val="tx1"/>
                </a:solidFill>
                <a:latin typeface="Helvetica"/>
                <a:cs typeface="Helvetica"/>
              </a:rPr>
              <a:t> </a:t>
            </a:r>
            <a:r>
              <a:rPr lang="en-US" sz="2600" dirty="0" err="1" smtClean="0">
                <a:solidFill>
                  <a:schemeClr val="tx1"/>
                </a:solidFill>
                <a:latin typeface="Helvetica"/>
                <a:cs typeface="Helvetica"/>
              </a:rPr>
              <a:t>cercano</a:t>
            </a:r>
            <a:r>
              <a:rPr lang="en-US" sz="2600" dirty="0" smtClean="0">
                <a:solidFill>
                  <a:schemeClr val="tx1"/>
                </a:solidFill>
                <a:latin typeface="Helvetica"/>
                <a:cs typeface="Helvetica"/>
              </a:rPr>
              <a:t> a 1!!!</a:t>
            </a:r>
            <a:endParaRPr lang="en-US" sz="26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237369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95536" y="1124744"/>
            <a:ext cx="8640960" cy="476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CL" sz="2800" b="1" dirty="0" smtClean="0">
                <a:solidFill>
                  <a:srgbClr val="000000"/>
                </a:solidFill>
                <a:latin typeface="Helvetica"/>
                <a:cs typeface="Helvetica"/>
              </a:rPr>
              <a:t>Toma de decisiones:</a:t>
            </a:r>
            <a:endParaRPr lang="es-C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endParaRPr lang="es-CL" sz="24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Nivel de significancia  = probabilidad de rechazar H</a:t>
            </a:r>
            <a:r>
              <a:rPr lang="es-CL" sz="24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 				                 incorrectamente</a:t>
            </a: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			   = P(error de tipo I)</a:t>
            </a:r>
          </a:p>
          <a:p>
            <a:pPr>
              <a:lnSpc>
                <a:spcPct val="110000"/>
              </a:lnSpc>
            </a:pPr>
            <a:endParaRPr lang="es-CL" sz="24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Poder estadístico	= probabilidad de rechazar H</a:t>
            </a:r>
            <a:r>
              <a:rPr lang="es-CL" sz="2400" baseline="-25000" dirty="0" smtClean="0">
                <a:solidFill>
                  <a:srgbClr val="000000"/>
                </a:solidFill>
                <a:latin typeface="Helvetica"/>
                <a:cs typeface="Helvetica"/>
              </a:rPr>
              <a:t>0</a:t>
            </a: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 				   	   correctamente</a:t>
            </a:r>
          </a:p>
          <a:p>
            <a:pPr>
              <a:lnSpc>
                <a:spcPct val="110000"/>
              </a:lnSpc>
            </a:pPr>
            <a:r>
              <a:rPr lang="es-CL" sz="2400" dirty="0" smtClean="0">
                <a:solidFill>
                  <a:srgbClr val="000000"/>
                </a:solidFill>
                <a:latin typeface="Helvetica"/>
                <a:cs typeface="Helvetica"/>
              </a:rPr>
              <a:t>			= 1 – P(error de tipo II)</a:t>
            </a:r>
          </a:p>
          <a:p>
            <a:pPr>
              <a:lnSpc>
                <a:spcPct val="120000"/>
              </a:lnSpc>
            </a:pPr>
            <a:endParaRPr lang="es-CL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CL" sz="28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Prueba de hipótesis</a:t>
            </a:r>
            <a:endParaRPr lang="sk-SK" dirty="0">
              <a:latin typeface="Franklin Gothic Book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67544" y="5373216"/>
            <a:ext cx="8280920" cy="1152128"/>
          </a:xfrm>
          <a:prstGeom prst="roundRect">
            <a:avLst>
              <a:gd name="adj" fmla="val 9786"/>
            </a:avLst>
          </a:prstGeom>
          <a:solidFill>
            <a:srgbClr val="00009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s-CL" sz="2600" dirty="0" smtClean="0">
                <a:solidFill>
                  <a:schemeClr val="tx1"/>
                </a:solidFill>
                <a:latin typeface="Helvetica"/>
                <a:cs typeface="Helvetica"/>
              </a:rPr>
              <a:t> Por convención, en general se rechaza H</a:t>
            </a:r>
            <a:r>
              <a:rPr lang="es-CL" sz="2600" baseline="-25000" dirty="0" smtClean="0">
                <a:solidFill>
                  <a:schemeClr val="tx1"/>
                </a:solidFill>
                <a:latin typeface="Helvetica"/>
                <a:cs typeface="Helvetica"/>
              </a:rPr>
              <a:t>0</a:t>
            </a:r>
            <a:r>
              <a:rPr lang="es-CL" sz="2600" dirty="0" smtClean="0">
                <a:solidFill>
                  <a:schemeClr val="tx1"/>
                </a:solidFill>
                <a:latin typeface="Helvetica"/>
                <a:cs typeface="Helvetica"/>
              </a:rPr>
              <a:t> con un nivel de significancia α = 0.05</a:t>
            </a:r>
            <a:endParaRPr lang="es-CL" sz="260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78955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Problema</a:t>
            </a:r>
            <a:endParaRPr lang="sk-SK" i="1" dirty="0">
              <a:latin typeface="Franklin Gothic Book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164773"/>
            <a:ext cx="8352928" cy="702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600" dirty="0" smtClean="0">
                <a:solidFill>
                  <a:srgbClr val="000000"/>
                </a:solidFill>
                <a:latin typeface="Helvetica"/>
                <a:cs typeface="Helvetica"/>
              </a:rPr>
              <a:t>Cuál es la diferencia entre estas dos situaciones?</a:t>
            </a: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800000"/>
              </a:buClr>
              <a:buFont typeface="+mj-lt"/>
              <a:buAutoNum type="arabicPeriod"/>
            </a:pPr>
            <a:r>
              <a:rPr lang="es-ES_tradnl" sz="2400" dirty="0" smtClean="0">
                <a:solidFill>
                  <a:srgbClr val="000000"/>
                </a:solidFill>
                <a:latin typeface="Helvetica"/>
                <a:cs typeface="Helvetica"/>
              </a:rPr>
              <a:t>Pondremos a prueba la hipótesis de que los hombres y las mujeres difieren en altura: </a:t>
            </a:r>
          </a:p>
          <a:p>
            <a:pPr marL="985838" indent="-514350">
              <a:lnSpc>
                <a:spcPct val="120000"/>
              </a:lnSpc>
              <a:buClr>
                <a:srgbClr val="FF6600"/>
              </a:buClr>
            </a:pPr>
            <a:endParaRPr lang="es-ES_tradnl" sz="24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FF6600"/>
              </a:buClr>
            </a:pPr>
            <a:endParaRPr lang="es-ES_tradnl" sz="24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FF6600"/>
              </a:buClr>
            </a:pPr>
            <a:endParaRPr lang="es-ES_tradnl" sz="24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000090"/>
              </a:buClr>
              <a:buFont typeface="+mj-lt"/>
              <a:buAutoNum type="arabicPeriod"/>
            </a:pPr>
            <a:r>
              <a:rPr lang="es-ES_tradnl" sz="2400" dirty="0" smtClean="0">
                <a:solidFill>
                  <a:srgbClr val="000000"/>
                </a:solidFill>
                <a:latin typeface="Helvetica"/>
                <a:cs typeface="Helvetica"/>
              </a:rPr>
              <a:t>Pondremos a prueba la hipótesis de que los hombres son más altos que las mujeres: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s-ES_tradnl" sz="28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s-ES_tradn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s-ES_tradn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ES_tradn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09105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Problema</a:t>
            </a:r>
            <a:endParaRPr lang="sk-SK" i="1" dirty="0">
              <a:latin typeface="Franklin Gothic Book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164773"/>
            <a:ext cx="8352928" cy="7021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600" dirty="0" smtClean="0">
                <a:solidFill>
                  <a:srgbClr val="000000"/>
                </a:solidFill>
                <a:latin typeface="Helvetica"/>
                <a:cs typeface="Helvetica"/>
              </a:rPr>
              <a:t>Cuál es la diferencia entre estas dos situaciones?</a:t>
            </a: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800000"/>
              </a:buClr>
              <a:buFont typeface="+mj-lt"/>
              <a:buAutoNum type="arabicPeriod"/>
            </a:pPr>
            <a:r>
              <a:rPr lang="es-ES_tradnl" sz="2400" dirty="0" smtClean="0">
                <a:solidFill>
                  <a:srgbClr val="000000"/>
                </a:solidFill>
                <a:latin typeface="Helvetica"/>
                <a:cs typeface="Helvetica"/>
              </a:rPr>
              <a:t>Pondremos a prueba la hipótesis de que los hombres y las mujeres difieren en altura: </a:t>
            </a:r>
          </a:p>
          <a:p>
            <a:pPr marL="985838" indent="-514350">
              <a:lnSpc>
                <a:spcPct val="120000"/>
              </a:lnSpc>
              <a:buClr>
                <a:srgbClr val="FF6600"/>
              </a:buClr>
            </a:pPr>
            <a:endParaRPr lang="es-ES_tradnl" sz="24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FF6600"/>
              </a:buClr>
            </a:pPr>
            <a:endParaRPr lang="es-ES_tradnl" sz="24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FF6600"/>
              </a:buClr>
            </a:pPr>
            <a:endParaRPr lang="es-ES_tradnl" sz="24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985838" indent="-514350">
              <a:lnSpc>
                <a:spcPct val="120000"/>
              </a:lnSpc>
              <a:buClr>
                <a:srgbClr val="000090"/>
              </a:buClr>
              <a:buFont typeface="+mj-lt"/>
              <a:buAutoNum type="arabicPeriod"/>
            </a:pPr>
            <a:r>
              <a:rPr lang="es-ES_tradnl" sz="2400" dirty="0" smtClean="0">
                <a:solidFill>
                  <a:srgbClr val="000000"/>
                </a:solidFill>
                <a:latin typeface="Helvetica"/>
                <a:cs typeface="Helvetica"/>
              </a:rPr>
              <a:t>Pondremos a prueba la hipótesis de que los hombres son más altos que las mujeres: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s-ES_tradnl" sz="2800" dirty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s-ES_tradn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endParaRPr lang="es-ES_tradn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s-ES_tradnl" sz="28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sz="2200" dirty="0" smtClean="0">
              <a:solidFill>
                <a:srgbClr val="000000"/>
              </a:solidFill>
              <a:latin typeface="Helvetica"/>
              <a:cs typeface="Helvetica"/>
            </a:endParaRP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000000"/>
              </a:solidFill>
              <a:latin typeface="Helvetica"/>
              <a:cs typeface="Helvetic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29445" y="3337828"/>
            <a:ext cx="606689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800000"/>
                </a:solidFill>
              </a:rPr>
              <a:t>H</a:t>
            </a:r>
            <a:r>
              <a:rPr lang="en-US" sz="3200" baseline="-25000" dirty="0" smtClean="0">
                <a:solidFill>
                  <a:srgbClr val="800000"/>
                </a:solidFill>
              </a:rPr>
              <a:t>0</a:t>
            </a:r>
            <a:r>
              <a:rPr lang="en-US" sz="3200" dirty="0" smtClean="0">
                <a:solidFill>
                  <a:srgbClr val="800000"/>
                </a:solidFill>
              </a:rPr>
              <a:t>:  </a:t>
            </a:r>
            <a:r>
              <a:rPr lang="en-US" sz="3200" i="1" dirty="0" smtClean="0">
                <a:solidFill>
                  <a:srgbClr val="800000"/>
                </a:solidFill>
              </a:rPr>
              <a:t>M = H</a:t>
            </a:r>
            <a:r>
              <a:rPr lang="en-US" sz="3200" dirty="0" smtClean="0"/>
              <a:t>   	</a:t>
            </a:r>
            <a:r>
              <a:rPr lang="en-US" sz="2400" i="1" dirty="0" err="1" smtClean="0"/>
              <a:t>vs</a:t>
            </a:r>
            <a:r>
              <a:rPr lang="en-US" sz="3200" dirty="0" smtClean="0"/>
              <a:t>  	</a:t>
            </a:r>
            <a:r>
              <a:rPr lang="en-US" sz="3200" dirty="0" smtClean="0">
                <a:solidFill>
                  <a:srgbClr val="800000"/>
                </a:solidFill>
              </a:rPr>
              <a:t>H</a:t>
            </a:r>
            <a:r>
              <a:rPr lang="en-US" sz="3200" baseline="-25000" dirty="0" smtClean="0">
                <a:solidFill>
                  <a:srgbClr val="800000"/>
                </a:solidFill>
              </a:rPr>
              <a:t>1</a:t>
            </a:r>
            <a:r>
              <a:rPr lang="en-US" sz="3200" dirty="0" smtClean="0">
                <a:solidFill>
                  <a:srgbClr val="800000"/>
                </a:solidFill>
              </a:rPr>
              <a:t>:  </a:t>
            </a:r>
            <a:r>
              <a:rPr lang="en-US" sz="3200" i="1" dirty="0" smtClean="0">
                <a:solidFill>
                  <a:srgbClr val="800000"/>
                </a:solidFill>
              </a:rPr>
              <a:t>M  ≠  H </a:t>
            </a:r>
            <a:endParaRPr lang="en-US" sz="3200" i="1" dirty="0">
              <a:solidFill>
                <a:srgbClr val="8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47664" y="5436512"/>
            <a:ext cx="619533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0090"/>
                </a:solidFill>
              </a:rPr>
              <a:t>H</a:t>
            </a:r>
            <a:r>
              <a:rPr lang="en-US" sz="3200" baseline="-25000" dirty="0" smtClean="0">
                <a:solidFill>
                  <a:srgbClr val="000090"/>
                </a:solidFill>
              </a:rPr>
              <a:t>0</a:t>
            </a:r>
            <a:r>
              <a:rPr lang="en-US" sz="3200" dirty="0" smtClean="0">
                <a:solidFill>
                  <a:srgbClr val="000090"/>
                </a:solidFill>
              </a:rPr>
              <a:t>:  </a:t>
            </a:r>
            <a:r>
              <a:rPr lang="en-US" sz="3200" i="1" dirty="0" smtClean="0">
                <a:solidFill>
                  <a:srgbClr val="000090"/>
                </a:solidFill>
              </a:rPr>
              <a:t>M ≥ H</a:t>
            </a:r>
            <a:r>
              <a:rPr lang="en-US" sz="3200" dirty="0" smtClean="0"/>
              <a:t>  	</a:t>
            </a:r>
            <a:r>
              <a:rPr lang="en-US" sz="2400" i="1" dirty="0" err="1" smtClean="0"/>
              <a:t>vs</a:t>
            </a:r>
            <a:r>
              <a:rPr lang="en-US" sz="3200" dirty="0" smtClean="0"/>
              <a:t> 	 </a:t>
            </a:r>
            <a:r>
              <a:rPr lang="en-US" sz="3200" dirty="0" smtClean="0">
                <a:solidFill>
                  <a:srgbClr val="000090"/>
                </a:solidFill>
              </a:rPr>
              <a:t>H</a:t>
            </a:r>
            <a:r>
              <a:rPr lang="en-US" sz="3200" baseline="-25000" dirty="0" smtClean="0">
                <a:solidFill>
                  <a:srgbClr val="000090"/>
                </a:solidFill>
              </a:rPr>
              <a:t>1</a:t>
            </a:r>
            <a:r>
              <a:rPr lang="en-US" sz="3200" dirty="0" smtClean="0">
                <a:solidFill>
                  <a:srgbClr val="000090"/>
                </a:solidFill>
              </a:rPr>
              <a:t>:  </a:t>
            </a:r>
            <a:r>
              <a:rPr lang="en-US" sz="3200" i="1" dirty="0" smtClean="0">
                <a:solidFill>
                  <a:srgbClr val="000090"/>
                </a:solidFill>
              </a:rPr>
              <a:t>M &lt;  H </a:t>
            </a:r>
            <a:endParaRPr lang="en-US" sz="3200" i="1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216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68" b="14014"/>
          <a:stretch/>
        </p:blipFill>
        <p:spPr bwMode="auto">
          <a:xfrm>
            <a:off x="755576" y="2870516"/>
            <a:ext cx="7317884" cy="286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/>
        </p:nvSpPr>
        <p:spPr>
          <a:xfrm>
            <a:off x="395536" y="1304135"/>
            <a:ext cx="8352928" cy="3586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600" b="1" dirty="0" smtClean="0">
                <a:solidFill>
                  <a:srgbClr val="000000"/>
                </a:solidFill>
              </a:rPr>
              <a:t>Prueba de dos colas</a:t>
            </a: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2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s-ES_tradnl" sz="2600" dirty="0" smtClean="0">
                <a:solidFill>
                  <a:srgbClr val="000000"/>
                </a:solidFill>
              </a:rPr>
              <a:t>para </a:t>
            </a:r>
            <a:r>
              <a:rPr lang="en-US" sz="2600" i="1" dirty="0">
                <a:latin typeface="Arial"/>
                <a:cs typeface="Arial"/>
              </a:rPr>
              <a:t>α </a:t>
            </a:r>
            <a:r>
              <a:rPr lang="en-US" sz="2600" dirty="0">
                <a:latin typeface="Arial"/>
                <a:cs typeface="Arial"/>
              </a:rPr>
              <a:t>= 0.05</a:t>
            </a: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Datos extremos y valores de P</a:t>
            </a:r>
            <a:endParaRPr lang="sk-SK" i="1" dirty="0">
              <a:latin typeface="Franklin Gothic Book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493235" y="3086539"/>
            <a:ext cx="6120680" cy="2664296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chemeClr val="bg1">
              <a:lumMod val="75000"/>
              <a:alpha val="4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93209" y="1988840"/>
            <a:ext cx="29546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800000"/>
                </a:solidFill>
              </a:rPr>
              <a:t>H</a:t>
            </a:r>
            <a:r>
              <a:rPr lang="en-US" sz="3200" baseline="-25000" dirty="0" smtClean="0">
                <a:solidFill>
                  <a:srgbClr val="800000"/>
                </a:solidFill>
              </a:rPr>
              <a:t>0</a:t>
            </a:r>
            <a:r>
              <a:rPr lang="en-US" sz="3200" dirty="0" smtClean="0">
                <a:solidFill>
                  <a:srgbClr val="800000"/>
                </a:solidFill>
              </a:rPr>
              <a:t>:  </a:t>
            </a:r>
            <a:r>
              <a:rPr lang="en-US" sz="3200" i="1" dirty="0" smtClean="0">
                <a:solidFill>
                  <a:srgbClr val="800000"/>
                </a:solidFill>
              </a:rPr>
              <a:t>M = H</a:t>
            </a:r>
            <a:r>
              <a:rPr lang="en-US" sz="3200" dirty="0" smtClean="0">
                <a:solidFill>
                  <a:srgbClr val="800000"/>
                </a:solidFill>
              </a:rPr>
              <a:t>   	</a:t>
            </a:r>
          </a:p>
          <a:p>
            <a:r>
              <a:rPr lang="en-US" sz="3200" dirty="0" smtClean="0">
                <a:solidFill>
                  <a:srgbClr val="800000"/>
                </a:solidFill>
              </a:rPr>
              <a:t>H</a:t>
            </a:r>
            <a:r>
              <a:rPr lang="en-US" sz="3200" baseline="-25000" dirty="0" smtClean="0">
                <a:solidFill>
                  <a:srgbClr val="800000"/>
                </a:solidFill>
              </a:rPr>
              <a:t>1</a:t>
            </a:r>
            <a:r>
              <a:rPr lang="en-US" sz="3200" dirty="0" smtClean="0">
                <a:solidFill>
                  <a:srgbClr val="800000"/>
                </a:solidFill>
              </a:rPr>
              <a:t>:  </a:t>
            </a:r>
            <a:r>
              <a:rPr lang="en-US" sz="3200" i="1" dirty="0" smtClean="0">
                <a:solidFill>
                  <a:srgbClr val="800000"/>
                </a:solidFill>
              </a:rPr>
              <a:t>M  ≠  H </a:t>
            </a:r>
            <a:endParaRPr lang="en-US" sz="3200" i="1" dirty="0">
              <a:solidFill>
                <a:srgbClr val="800000"/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403648" y="5733256"/>
            <a:ext cx="6210267" cy="0"/>
          </a:xfrm>
          <a:prstGeom prst="line">
            <a:avLst/>
          </a:prstGeom>
          <a:ln w="254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11960" y="2340168"/>
            <a:ext cx="63317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H</a:t>
            </a:r>
            <a:r>
              <a:rPr lang="en-US" sz="3200" baseline="-25000" dirty="0" smtClean="0"/>
              <a:t>0</a:t>
            </a:r>
            <a:endParaRPr lang="en-US" sz="3200" baseline="-25000" dirty="0"/>
          </a:p>
        </p:txBody>
      </p:sp>
    </p:spTree>
    <p:extLst>
      <p:ext uri="{BB962C8B-B14F-4D97-AF65-F5344CB8AC3E}">
        <p14:creationId xmlns:p14="http://schemas.microsoft.com/office/powerpoint/2010/main" val="1584805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Datos extremos y valores de P</a:t>
            </a:r>
            <a:endParaRPr lang="sk-SK" i="1" dirty="0">
              <a:latin typeface="Franklin Gothic Book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68" b="14014"/>
          <a:stretch/>
        </p:blipFill>
        <p:spPr bwMode="auto">
          <a:xfrm>
            <a:off x="755576" y="2870516"/>
            <a:ext cx="7317884" cy="286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reeform 12"/>
          <p:cNvSpPr/>
          <p:nvPr/>
        </p:nvSpPr>
        <p:spPr>
          <a:xfrm>
            <a:off x="1493235" y="3086539"/>
            <a:ext cx="6120680" cy="2664296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chemeClr val="bg1">
              <a:lumMod val="75000"/>
              <a:alpha val="4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6884"/>
          <a:stretch/>
        </p:blipFill>
        <p:spPr bwMode="auto">
          <a:xfrm>
            <a:off x="1619672" y="3505511"/>
            <a:ext cx="1265042" cy="2240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/>
          <p:cNvPicPr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6884"/>
          <a:stretch/>
        </p:blipFill>
        <p:spPr bwMode="auto">
          <a:xfrm flipH="1">
            <a:off x="6178939" y="3501008"/>
            <a:ext cx="1327246" cy="224096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7067912" y="4581128"/>
            <a:ext cx="8906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0.025</a:t>
            </a:r>
            <a:endParaRPr lang="en-US" sz="2200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6419840" y="5024164"/>
            <a:ext cx="648072" cy="50405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1763688" y="4941168"/>
            <a:ext cx="795094" cy="635923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15616" y="4510281"/>
            <a:ext cx="8906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0.025</a:t>
            </a:r>
            <a:endParaRPr lang="en-US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4139952" y="4581128"/>
            <a:ext cx="733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0.95</a:t>
            </a:r>
            <a:endParaRPr lang="en-US" sz="2200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1403648" y="5733256"/>
            <a:ext cx="6210267" cy="0"/>
          </a:xfrm>
          <a:prstGeom prst="line">
            <a:avLst/>
          </a:prstGeom>
          <a:ln w="254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95354" y="5805264"/>
            <a:ext cx="6624736" cy="347965"/>
          </a:xfrm>
          <a:prstGeom prst="rect">
            <a:avLst/>
          </a:prstGeom>
          <a:solidFill>
            <a:srgbClr val="FFFFFF"/>
          </a:solidFill>
        </p:spPr>
        <p:txBody>
          <a:bodyPr wrap="square" tIns="7200" bIns="7200" rtlCol="0">
            <a:spAutoFit/>
          </a:bodyPr>
          <a:lstStyle/>
          <a:p>
            <a:pPr>
              <a:lnSpc>
                <a:spcPct val="110000"/>
              </a:lnSpc>
              <a:buClr>
                <a:srgbClr val="FF6600"/>
              </a:buClr>
            </a:pPr>
            <a:r>
              <a:rPr lang="en-US" sz="2000" dirty="0" err="1" smtClean="0">
                <a:latin typeface="Arial"/>
                <a:cs typeface="Arial"/>
              </a:rPr>
              <a:t>Rechaza</a:t>
            </a:r>
            <a:r>
              <a:rPr lang="en-US" sz="2000" dirty="0" smtClean="0">
                <a:latin typeface="Arial"/>
                <a:cs typeface="Arial"/>
              </a:rPr>
              <a:t> H</a:t>
            </a:r>
            <a:r>
              <a:rPr lang="en-US" sz="2000" baseline="-25000" dirty="0" smtClean="0">
                <a:latin typeface="Arial"/>
                <a:cs typeface="Arial"/>
              </a:rPr>
              <a:t>0</a:t>
            </a:r>
            <a:r>
              <a:rPr lang="en-US" sz="2000" dirty="0">
                <a:latin typeface="Arial"/>
                <a:cs typeface="Arial"/>
              </a:rPr>
              <a:t>      		</a:t>
            </a:r>
            <a:r>
              <a:rPr lang="en-US" sz="2000" dirty="0" err="1" smtClean="0">
                <a:latin typeface="Arial"/>
                <a:cs typeface="Arial"/>
              </a:rPr>
              <a:t>Acepta</a:t>
            </a:r>
            <a:r>
              <a:rPr lang="en-US" sz="2000" dirty="0" smtClean="0">
                <a:latin typeface="Arial"/>
                <a:cs typeface="Arial"/>
              </a:rPr>
              <a:t> H</a:t>
            </a:r>
            <a:r>
              <a:rPr lang="en-US" sz="2000" baseline="-25000" dirty="0" smtClean="0">
                <a:latin typeface="Arial"/>
                <a:cs typeface="Arial"/>
              </a:rPr>
              <a:t>0	         </a:t>
            </a:r>
            <a:r>
              <a:rPr lang="en-US" sz="2000" dirty="0" err="1" smtClean="0">
                <a:latin typeface="Arial"/>
                <a:cs typeface="Arial"/>
              </a:rPr>
              <a:t>Rechaza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H</a:t>
            </a:r>
            <a:r>
              <a:rPr lang="en-US" sz="2000" baseline="-25000" dirty="0">
                <a:latin typeface="Arial"/>
                <a:cs typeface="Arial"/>
              </a:rPr>
              <a:t>0</a:t>
            </a:r>
            <a:endParaRPr lang="en-US" sz="2000" dirty="0" smtClean="0"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11960" y="2340168"/>
            <a:ext cx="63317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H</a:t>
            </a:r>
            <a:r>
              <a:rPr lang="en-US" sz="3200" baseline="-25000" dirty="0" smtClean="0"/>
              <a:t>0</a:t>
            </a:r>
            <a:endParaRPr lang="en-US" sz="3200" baseline="-25000" dirty="0"/>
          </a:p>
        </p:txBody>
      </p:sp>
      <p:sp>
        <p:nvSpPr>
          <p:cNvPr id="24" name="TextBox 23"/>
          <p:cNvSpPr txBox="1"/>
          <p:nvPr/>
        </p:nvSpPr>
        <p:spPr>
          <a:xfrm>
            <a:off x="393209" y="1988840"/>
            <a:ext cx="29546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800000"/>
                </a:solidFill>
              </a:rPr>
              <a:t>H</a:t>
            </a:r>
            <a:r>
              <a:rPr lang="en-US" sz="3200" baseline="-25000" dirty="0" smtClean="0">
                <a:solidFill>
                  <a:srgbClr val="800000"/>
                </a:solidFill>
              </a:rPr>
              <a:t>0</a:t>
            </a:r>
            <a:r>
              <a:rPr lang="en-US" sz="3200" dirty="0" smtClean="0">
                <a:solidFill>
                  <a:srgbClr val="800000"/>
                </a:solidFill>
              </a:rPr>
              <a:t>:  </a:t>
            </a:r>
            <a:r>
              <a:rPr lang="en-US" sz="3200" i="1" dirty="0" smtClean="0">
                <a:solidFill>
                  <a:srgbClr val="800000"/>
                </a:solidFill>
              </a:rPr>
              <a:t>M = H</a:t>
            </a:r>
            <a:r>
              <a:rPr lang="en-US" sz="3200" dirty="0" smtClean="0">
                <a:solidFill>
                  <a:srgbClr val="800000"/>
                </a:solidFill>
              </a:rPr>
              <a:t>   	</a:t>
            </a:r>
          </a:p>
          <a:p>
            <a:r>
              <a:rPr lang="en-US" sz="3200" dirty="0" smtClean="0">
                <a:solidFill>
                  <a:srgbClr val="800000"/>
                </a:solidFill>
              </a:rPr>
              <a:t>H</a:t>
            </a:r>
            <a:r>
              <a:rPr lang="en-US" sz="3200" baseline="-25000" dirty="0" smtClean="0">
                <a:solidFill>
                  <a:srgbClr val="800000"/>
                </a:solidFill>
              </a:rPr>
              <a:t>1</a:t>
            </a:r>
            <a:r>
              <a:rPr lang="en-US" sz="3200" dirty="0" smtClean="0">
                <a:solidFill>
                  <a:srgbClr val="800000"/>
                </a:solidFill>
              </a:rPr>
              <a:t>:  </a:t>
            </a:r>
            <a:r>
              <a:rPr lang="en-US" sz="3200" i="1" dirty="0" smtClean="0">
                <a:solidFill>
                  <a:srgbClr val="800000"/>
                </a:solidFill>
              </a:rPr>
              <a:t>M  ≠  H </a:t>
            </a:r>
            <a:endParaRPr lang="en-US" sz="3200" i="1" dirty="0">
              <a:solidFill>
                <a:srgbClr val="8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95536" y="1304135"/>
            <a:ext cx="8352928" cy="3586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600" b="1" dirty="0" smtClean="0">
                <a:solidFill>
                  <a:srgbClr val="000000"/>
                </a:solidFill>
              </a:rPr>
              <a:t>Prueba de dos colas</a:t>
            </a: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2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s-ES_tradnl" sz="2600" dirty="0" smtClean="0">
                <a:solidFill>
                  <a:srgbClr val="000000"/>
                </a:solidFill>
              </a:rPr>
              <a:t>para </a:t>
            </a:r>
            <a:r>
              <a:rPr lang="en-US" sz="2600" i="1" dirty="0">
                <a:latin typeface="Arial"/>
                <a:cs typeface="Arial"/>
              </a:rPr>
              <a:t>α </a:t>
            </a:r>
            <a:r>
              <a:rPr lang="en-US" sz="2600" dirty="0">
                <a:latin typeface="Arial"/>
                <a:cs typeface="Arial"/>
              </a:rPr>
              <a:t>= 0.05</a:t>
            </a: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000000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192462" y="4509120"/>
            <a:ext cx="0" cy="15121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880094" y="4526699"/>
            <a:ext cx="0" cy="15121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194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Datos extremos y valores de P</a:t>
            </a:r>
            <a:endParaRPr lang="sk-SK" i="1" dirty="0">
              <a:latin typeface="Franklin Gothic Book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68" b="14014"/>
          <a:stretch/>
        </p:blipFill>
        <p:spPr bwMode="auto">
          <a:xfrm>
            <a:off x="755576" y="2870516"/>
            <a:ext cx="7317884" cy="286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reeform 12"/>
          <p:cNvSpPr/>
          <p:nvPr/>
        </p:nvSpPr>
        <p:spPr>
          <a:xfrm>
            <a:off x="1493235" y="3086539"/>
            <a:ext cx="6120680" cy="2664296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chemeClr val="bg1">
              <a:lumMod val="75000"/>
              <a:alpha val="4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/>
          <p:nvPr/>
        </p:nvCxnSpPr>
        <p:spPr>
          <a:xfrm>
            <a:off x="1403648" y="5733256"/>
            <a:ext cx="6210267" cy="0"/>
          </a:xfrm>
          <a:prstGeom prst="line">
            <a:avLst/>
          </a:prstGeom>
          <a:ln w="254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11960" y="2340168"/>
            <a:ext cx="63317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H</a:t>
            </a:r>
            <a:r>
              <a:rPr lang="en-US" sz="3200" baseline="-25000" dirty="0" smtClean="0"/>
              <a:t>0</a:t>
            </a:r>
            <a:endParaRPr lang="en-US" sz="3200" baseline="-25000" dirty="0"/>
          </a:p>
        </p:txBody>
      </p:sp>
      <p:sp>
        <p:nvSpPr>
          <p:cNvPr id="26" name="Rectangle 25"/>
          <p:cNvSpPr/>
          <p:nvPr/>
        </p:nvSpPr>
        <p:spPr>
          <a:xfrm>
            <a:off x="395536" y="1304135"/>
            <a:ext cx="8352928" cy="3586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600" b="1" dirty="0" smtClean="0">
                <a:solidFill>
                  <a:srgbClr val="000000"/>
                </a:solidFill>
              </a:rPr>
              <a:t>Prueba de una cola</a:t>
            </a: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2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s-ES_tradnl" sz="2600" dirty="0" smtClean="0">
                <a:solidFill>
                  <a:srgbClr val="000000"/>
                </a:solidFill>
              </a:rPr>
              <a:t>para </a:t>
            </a:r>
            <a:r>
              <a:rPr lang="en-US" sz="2600" i="1" dirty="0">
                <a:latin typeface="Arial"/>
                <a:cs typeface="Arial"/>
              </a:rPr>
              <a:t>α </a:t>
            </a:r>
            <a:r>
              <a:rPr lang="en-US" sz="2600" dirty="0">
                <a:latin typeface="Arial"/>
                <a:cs typeface="Arial"/>
              </a:rPr>
              <a:t>= 0.05</a:t>
            </a: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209" y="1988840"/>
            <a:ext cx="29546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0090"/>
                </a:solidFill>
              </a:rPr>
              <a:t>H</a:t>
            </a:r>
            <a:r>
              <a:rPr lang="en-US" sz="3200" baseline="-25000" dirty="0" smtClean="0">
                <a:solidFill>
                  <a:srgbClr val="000090"/>
                </a:solidFill>
              </a:rPr>
              <a:t>0</a:t>
            </a:r>
            <a:r>
              <a:rPr lang="en-US" sz="3200" dirty="0" smtClean="0">
                <a:solidFill>
                  <a:srgbClr val="000090"/>
                </a:solidFill>
              </a:rPr>
              <a:t>:  </a:t>
            </a:r>
            <a:r>
              <a:rPr lang="en-US" sz="3200" i="1" dirty="0" smtClean="0">
                <a:solidFill>
                  <a:srgbClr val="000090"/>
                </a:solidFill>
              </a:rPr>
              <a:t>M ≥ H</a:t>
            </a:r>
            <a:r>
              <a:rPr lang="en-US" sz="3200" dirty="0" smtClean="0">
                <a:solidFill>
                  <a:srgbClr val="000090"/>
                </a:solidFill>
              </a:rPr>
              <a:t>   	</a:t>
            </a:r>
          </a:p>
          <a:p>
            <a:r>
              <a:rPr lang="en-US" sz="3200" dirty="0" smtClean="0">
                <a:solidFill>
                  <a:srgbClr val="000090"/>
                </a:solidFill>
              </a:rPr>
              <a:t>H</a:t>
            </a:r>
            <a:r>
              <a:rPr lang="en-US" sz="3200" baseline="-25000" dirty="0" smtClean="0">
                <a:solidFill>
                  <a:srgbClr val="000090"/>
                </a:solidFill>
              </a:rPr>
              <a:t>1</a:t>
            </a:r>
            <a:r>
              <a:rPr lang="en-US" sz="3200" dirty="0" smtClean="0">
                <a:solidFill>
                  <a:srgbClr val="000090"/>
                </a:solidFill>
              </a:rPr>
              <a:t>:  </a:t>
            </a:r>
            <a:r>
              <a:rPr lang="en-US" sz="3200" i="1" dirty="0" smtClean="0">
                <a:solidFill>
                  <a:srgbClr val="000090"/>
                </a:solidFill>
              </a:rPr>
              <a:t>M  </a:t>
            </a:r>
            <a:r>
              <a:rPr lang="en-US" sz="3200" i="1" dirty="0">
                <a:solidFill>
                  <a:srgbClr val="000090"/>
                </a:solidFill>
              </a:rPr>
              <a:t>&lt;</a:t>
            </a:r>
            <a:r>
              <a:rPr lang="en-US" sz="3200" i="1" dirty="0" smtClean="0">
                <a:solidFill>
                  <a:srgbClr val="000090"/>
                </a:solidFill>
              </a:rPr>
              <a:t>  H </a:t>
            </a:r>
            <a:endParaRPr lang="en-US" sz="3200" i="1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541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77875"/>
          </a:xfrm>
        </p:spPr>
        <p:txBody>
          <a:bodyPr/>
          <a:lstStyle/>
          <a:p>
            <a:pPr algn="ctr" eaLnBrk="1" hangingPunct="1"/>
            <a:r>
              <a:rPr lang="sk-SK" dirty="0" smtClean="0">
                <a:latin typeface="Franklin Gothic Book" charset="0"/>
              </a:rPr>
              <a:t>Datos extremos y valores de P</a:t>
            </a:r>
            <a:endParaRPr lang="sk-SK" i="1" dirty="0">
              <a:latin typeface="Franklin Gothic Book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68" b="14014"/>
          <a:stretch/>
        </p:blipFill>
        <p:spPr bwMode="auto">
          <a:xfrm>
            <a:off x="755576" y="2870516"/>
            <a:ext cx="7317884" cy="286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reeform 12"/>
          <p:cNvSpPr/>
          <p:nvPr/>
        </p:nvSpPr>
        <p:spPr>
          <a:xfrm>
            <a:off x="1493235" y="3086539"/>
            <a:ext cx="6120680" cy="2664296"/>
          </a:xfrm>
          <a:custGeom>
            <a:avLst/>
            <a:gdLst>
              <a:gd name="connsiteX0" fmla="*/ 0 w 5291667"/>
              <a:gd name="connsiteY0" fmla="*/ 3064934 h 3073400"/>
              <a:gd name="connsiteX1" fmla="*/ 220134 w 5291667"/>
              <a:gd name="connsiteY1" fmla="*/ 3056467 h 3073400"/>
              <a:gd name="connsiteX2" fmla="*/ 406400 w 5291667"/>
              <a:gd name="connsiteY2" fmla="*/ 3022600 h 3073400"/>
              <a:gd name="connsiteX3" fmla="*/ 702734 w 5291667"/>
              <a:gd name="connsiteY3" fmla="*/ 2887134 h 3073400"/>
              <a:gd name="connsiteX4" fmla="*/ 1007534 w 5291667"/>
              <a:gd name="connsiteY4" fmla="*/ 2658534 h 3073400"/>
              <a:gd name="connsiteX5" fmla="*/ 1270000 w 5291667"/>
              <a:gd name="connsiteY5" fmla="*/ 2302934 h 3073400"/>
              <a:gd name="connsiteX6" fmla="*/ 1507067 w 5291667"/>
              <a:gd name="connsiteY6" fmla="*/ 1879600 h 3073400"/>
              <a:gd name="connsiteX7" fmla="*/ 1667934 w 5291667"/>
              <a:gd name="connsiteY7" fmla="*/ 1574800 h 3073400"/>
              <a:gd name="connsiteX8" fmla="*/ 1837267 w 5291667"/>
              <a:gd name="connsiteY8" fmla="*/ 1159934 h 3073400"/>
              <a:gd name="connsiteX9" fmla="*/ 2006600 w 5291667"/>
              <a:gd name="connsiteY9" fmla="*/ 795867 h 3073400"/>
              <a:gd name="connsiteX10" fmla="*/ 2184400 w 5291667"/>
              <a:gd name="connsiteY10" fmla="*/ 440267 h 3073400"/>
              <a:gd name="connsiteX11" fmla="*/ 2336800 w 5291667"/>
              <a:gd name="connsiteY11" fmla="*/ 177800 h 3073400"/>
              <a:gd name="connsiteX12" fmla="*/ 2514600 w 5291667"/>
              <a:gd name="connsiteY12" fmla="*/ 8467 h 3073400"/>
              <a:gd name="connsiteX13" fmla="*/ 2624667 w 5291667"/>
              <a:gd name="connsiteY13" fmla="*/ 0 h 3073400"/>
              <a:gd name="connsiteX14" fmla="*/ 2777067 w 5291667"/>
              <a:gd name="connsiteY14" fmla="*/ 33867 h 3073400"/>
              <a:gd name="connsiteX15" fmla="*/ 2895600 w 5291667"/>
              <a:gd name="connsiteY15" fmla="*/ 169334 h 3073400"/>
              <a:gd name="connsiteX16" fmla="*/ 3056467 w 5291667"/>
              <a:gd name="connsiteY16" fmla="*/ 389467 h 3073400"/>
              <a:gd name="connsiteX17" fmla="*/ 3217334 w 5291667"/>
              <a:gd name="connsiteY17" fmla="*/ 728134 h 3073400"/>
              <a:gd name="connsiteX18" fmla="*/ 3378200 w 5291667"/>
              <a:gd name="connsiteY18" fmla="*/ 1092200 h 3073400"/>
              <a:gd name="connsiteX19" fmla="*/ 3572934 w 5291667"/>
              <a:gd name="connsiteY19" fmla="*/ 1524000 h 3073400"/>
              <a:gd name="connsiteX20" fmla="*/ 3793067 w 5291667"/>
              <a:gd name="connsiteY20" fmla="*/ 1964267 h 3073400"/>
              <a:gd name="connsiteX21" fmla="*/ 3970867 w 5291667"/>
              <a:gd name="connsiteY21" fmla="*/ 2269067 h 3073400"/>
              <a:gd name="connsiteX22" fmla="*/ 4157134 w 5291667"/>
              <a:gd name="connsiteY22" fmla="*/ 2523067 h 3073400"/>
              <a:gd name="connsiteX23" fmla="*/ 4360334 w 5291667"/>
              <a:gd name="connsiteY23" fmla="*/ 2751667 h 3073400"/>
              <a:gd name="connsiteX24" fmla="*/ 4631267 w 5291667"/>
              <a:gd name="connsiteY24" fmla="*/ 2937934 h 3073400"/>
              <a:gd name="connsiteX25" fmla="*/ 4986867 w 5291667"/>
              <a:gd name="connsiteY25" fmla="*/ 3039534 h 3073400"/>
              <a:gd name="connsiteX26" fmla="*/ 5291667 w 5291667"/>
              <a:gd name="connsiteY26" fmla="*/ 3073400 h 3073400"/>
              <a:gd name="connsiteX27" fmla="*/ 0 w 5291667"/>
              <a:gd name="connsiteY27" fmla="*/ 3064934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291667" h="3073400">
                <a:moveTo>
                  <a:pt x="0" y="3064934"/>
                </a:moveTo>
                <a:lnTo>
                  <a:pt x="220134" y="3056467"/>
                </a:lnTo>
                <a:lnTo>
                  <a:pt x="406400" y="3022600"/>
                </a:lnTo>
                <a:lnTo>
                  <a:pt x="702734" y="2887134"/>
                </a:lnTo>
                <a:lnTo>
                  <a:pt x="1007534" y="2658534"/>
                </a:lnTo>
                <a:lnTo>
                  <a:pt x="1270000" y="2302934"/>
                </a:lnTo>
                <a:lnTo>
                  <a:pt x="1507067" y="1879600"/>
                </a:lnTo>
                <a:lnTo>
                  <a:pt x="1667934" y="1574800"/>
                </a:lnTo>
                <a:lnTo>
                  <a:pt x="1837267" y="1159934"/>
                </a:lnTo>
                <a:lnTo>
                  <a:pt x="2006600" y="795867"/>
                </a:lnTo>
                <a:lnTo>
                  <a:pt x="2184400" y="440267"/>
                </a:lnTo>
                <a:lnTo>
                  <a:pt x="2336800" y="177800"/>
                </a:lnTo>
                <a:lnTo>
                  <a:pt x="2514600" y="8467"/>
                </a:lnTo>
                <a:lnTo>
                  <a:pt x="2624667" y="0"/>
                </a:lnTo>
                <a:lnTo>
                  <a:pt x="2777067" y="33867"/>
                </a:lnTo>
                <a:lnTo>
                  <a:pt x="2895600" y="169334"/>
                </a:lnTo>
                <a:lnTo>
                  <a:pt x="3056467" y="389467"/>
                </a:lnTo>
                <a:lnTo>
                  <a:pt x="3217334" y="728134"/>
                </a:lnTo>
                <a:lnTo>
                  <a:pt x="3378200" y="1092200"/>
                </a:lnTo>
                <a:lnTo>
                  <a:pt x="3572934" y="1524000"/>
                </a:lnTo>
                <a:lnTo>
                  <a:pt x="3793067" y="1964267"/>
                </a:lnTo>
                <a:lnTo>
                  <a:pt x="3970867" y="2269067"/>
                </a:lnTo>
                <a:lnTo>
                  <a:pt x="4157134" y="2523067"/>
                </a:lnTo>
                <a:lnTo>
                  <a:pt x="4360334" y="2751667"/>
                </a:lnTo>
                <a:lnTo>
                  <a:pt x="4631267" y="2937934"/>
                </a:lnTo>
                <a:lnTo>
                  <a:pt x="4986867" y="3039534"/>
                </a:lnTo>
                <a:lnTo>
                  <a:pt x="5291667" y="3073400"/>
                </a:lnTo>
                <a:lnTo>
                  <a:pt x="0" y="3064934"/>
                </a:lnTo>
                <a:close/>
              </a:path>
            </a:pathLst>
          </a:custGeom>
          <a:solidFill>
            <a:schemeClr val="bg1">
              <a:lumMod val="75000"/>
              <a:alpha val="4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0700"/>
          <a:stretch/>
        </p:blipFill>
        <p:spPr bwMode="auto">
          <a:xfrm flipH="1">
            <a:off x="5823857" y="3356992"/>
            <a:ext cx="1682328" cy="238498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7067912" y="4581128"/>
            <a:ext cx="733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0.05</a:t>
            </a:r>
            <a:endParaRPr lang="en-US" sz="2200" dirty="0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6419840" y="5024164"/>
            <a:ext cx="648072" cy="504056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39952" y="4581128"/>
            <a:ext cx="733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/>
              <a:t>0.95</a:t>
            </a:r>
            <a:endParaRPr lang="en-US" sz="2200" dirty="0"/>
          </a:p>
        </p:txBody>
      </p:sp>
      <p:cxnSp>
        <p:nvCxnSpPr>
          <p:cNvPr id="23" name="Straight Connector 22"/>
          <p:cNvCxnSpPr/>
          <p:nvPr/>
        </p:nvCxnSpPr>
        <p:spPr>
          <a:xfrm>
            <a:off x="1403648" y="5733256"/>
            <a:ext cx="6210267" cy="0"/>
          </a:xfrm>
          <a:prstGeom prst="line">
            <a:avLst/>
          </a:prstGeom>
          <a:ln w="254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95736" y="5805264"/>
            <a:ext cx="6624736" cy="347965"/>
          </a:xfrm>
          <a:prstGeom prst="rect">
            <a:avLst/>
          </a:prstGeom>
          <a:solidFill>
            <a:srgbClr val="FFFFFF"/>
          </a:solidFill>
        </p:spPr>
        <p:txBody>
          <a:bodyPr wrap="square" tIns="7200" bIns="7200" rtlCol="0">
            <a:spAutoFit/>
          </a:bodyPr>
          <a:lstStyle/>
          <a:p>
            <a:pPr>
              <a:lnSpc>
                <a:spcPct val="110000"/>
              </a:lnSpc>
              <a:buClr>
                <a:srgbClr val="FF6600"/>
              </a:buClr>
            </a:pPr>
            <a:r>
              <a:rPr lang="en-US" sz="2000" dirty="0" smtClean="0">
                <a:latin typeface="Arial"/>
                <a:cs typeface="Arial"/>
              </a:rPr>
              <a:t>  </a:t>
            </a:r>
            <a:r>
              <a:rPr lang="en-US" sz="2000" dirty="0">
                <a:latin typeface="Arial"/>
                <a:cs typeface="Arial"/>
              </a:rPr>
              <a:t>		</a:t>
            </a:r>
            <a:r>
              <a:rPr lang="en-US" sz="2000" dirty="0" err="1" smtClean="0">
                <a:latin typeface="Arial"/>
                <a:cs typeface="Arial"/>
              </a:rPr>
              <a:t>Acepta</a:t>
            </a:r>
            <a:r>
              <a:rPr lang="en-US" sz="2000" dirty="0" smtClean="0">
                <a:latin typeface="Arial"/>
                <a:cs typeface="Arial"/>
              </a:rPr>
              <a:t> H</a:t>
            </a:r>
            <a:r>
              <a:rPr lang="en-US" sz="2000" baseline="-25000" dirty="0" smtClean="0">
                <a:latin typeface="Arial"/>
                <a:cs typeface="Arial"/>
              </a:rPr>
              <a:t>0	</a:t>
            </a:r>
            <a:r>
              <a:rPr lang="en-US" sz="2000" baseline="-25000" dirty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Rechaza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>
                <a:latin typeface="Arial"/>
                <a:cs typeface="Arial"/>
              </a:rPr>
              <a:t>H</a:t>
            </a:r>
            <a:r>
              <a:rPr lang="en-US" sz="2000" baseline="-25000" dirty="0">
                <a:latin typeface="Arial"/>
                <a:cs typeface="Arial"/>
              </a:rPr>
              <a:t>0</a:t>
            </a:r>
            <a:endParaRPr lang="en-US" sz="2000" dirty="0" smtClean="0">
              <a:latin typeface="Arial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11960" y="2340168"/>
            <a:ext cx="63317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H</a:t>
            </a:r>
            <a:r>
              <a:rPr lang="en-US" sz="3200" baseline="-25000" dirty="0" smtClean="0"/>
              <a:t>0</a:t>
            </a:r>
            <a:endParaRPr lang="en-US" sz="3200" baseline="-25000" dirty="0"/>
          </a:p>
        </p:txBody>
      </p:sp>
      <p:sp>
        <p:nvSpPr>
          <p:cNvPr id="26" name="Rectangle 25"/>
          <p:cNvSpPr/>
          <p:nvPr/>
        </p:nvSpPr>
        <p:spPr>
          <a:xfrm>
            <a:off x="395536" y="1304135"/>
            <a:ext cx="8352928" cy="3586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_tradnl" sz="2600" b="1" dirty="0" smtClean="0">
                <a:solidFill>
                  <a:srgbClr val="000000"/>
                </a:solidFill>
              </a:rPr>
              <a:t>Prueba de una cola</a:t>
            </a: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2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r>
              <a:rPr lang="es-ES_tradnl" sz="2600" dirty="0" smtClean="0">
                <a:solidFill>
                  <a:srgbClr val="000000"/>
                </a:solidFill>
              </a:rPr>
              <a:t>para </a:t>
            </a:r>
            <a:r>
              <a:rPr lang="en-US" sz="2600" i="1" dirty="0">
                <a:latin typeface="Arial"/>
                <a:cs typeface="Arial"/>
              </a:rPr>
              <a:t>α </a:t>
            </a:r>
            <a:r>
              <a:rPr lang="en-US" sz="2600" dirty="0">
                <a:latin typeface="Arial"/>
                <a:cs typeface="Arial"/>
              </a:rPr>
              <a:t>= 0.05</a:t>
            </a:r>
            <a:endParaRPr lang="es-ES_tradnl" sz="26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s-ES_tradnl" sz="1000" dirty="0" smtClean="0">
              <a:solidFill>
                <a:srgbClr val="000000"/>
              </a:solidFill>
            </a:endParaRPr>
          </a:p>
          <a:p>
            <a:pPr>
              <a:lnSpc>
                <a:spcPct val="120000"/>
              </a:lnSpc>
            </a:pP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3209" y="1988840"/>
            <a:ext cx="29546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0090"/>
                </a:solidFill>
              </a:rPr>
              <a:t>H</a:t>
            </a:r>
            <a:r>
              <a:rPr lang="en-US" sz="3200" baseline="-25000" dirty="0" smtClean="0">
                <a:solidFill>
                  <a:srgbClr val="000090"/>
                </a:solidFill>
              </a:rPr>
              <a:t>0</a:t>
            </a:r>
            <a:r>
              <a:rPr lang="en-US" sz="3200" dirty="0" smtClean="0">
                <a:solidFill>
                  <a:srgbClr val="000090"/>
                </a:solidFill>
              </a:rPr>
              <a:t>:  </a:t>
            </a:r>
            <a:r>
              <a:rPr lang="en-US" sz="3200" i="1" dirty="0" smtClean="0">
                <a:solidFill>
                  <a:srgbClr val="000090"/>
                </a:solidFill>
              </a:rPr>
              <a:t>M ≥ H</a:t>
            </a:r>
            <a:r>
              <a:rPr lang="en-US" sz="3200" dirty="0" smtClean="0">
                <a:solidFill>
                  <a:srgbClr val="000090"/>
                </a:solidFill>
              </a:rPr>
              <a:t>   	</a:t>
            </a:r>
          </a:p>
          <a:p>
            <a:r>
              <a:rPr lang="en-US" sz="3200" dirty="0" smtClean="0">
                <a:solidFill>
                  <a:srgbClr val="000090"/>
                </a:solidFill>
              </a:rPr>
              <a:t>H</a:t>
            </a:r>
            <a:r>
              <a:rPr lang="en-US" sz="3200" baseline="-25000" dirty="0" smtClean="0">
                <a:solidFill>
                  <a:srgbClr val="000090"/>
                </a:solidFill>
              </a:rPr>
              <a:t>1</a:t>
            </a:r>
            <a:r>
              <a:rPr lang="en-US" sz="3200" dirty="0" smtClean="0">
                <a:solidFill>
                  <a:srgbClr val="000090"/>
                </a:solidFill>
              </a:rPr>
              <a:t>:  </a:t>
            </a:r>
            <a:r>
              <a:rPr lang="en-US" sz="3200" i="1" dirty="0" smtClean="0">
                <a:solidFill>
                  <a:srgbClr val="000090"/>
                </a:solidFill>
              </a:rPr>
              <a:t>M  </a:t>
            </a:r>
            <a:r>
              <a:rPr lang="en-US" sz="3200" i="1" dirty="0">
                <a:solidFill>
                  <a:srgbClr val="000090"/>
                </a:solidFill>
              </a:rPr>
              <a:t>&lt;</a:t>
            </a:r>
            <a:r>
              <a:rPr lang="en-US" sz="3200" i="1" dirty="0" smtClean="0">
                <a:solidFill>
                  <a:srgbClr val="000090"/>
                </a:solidFill>
              </a:rPr>
              <a:t>  H </a:t>
            </a:r>
            <a:endParaRPr lang="en-US" sz="3200" i="1" dirty="0">
              <a:solidFill>
                <a:srgbClr val="00009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5831858" y="4509120"/>
            <a:ext cx="0" cy="15121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592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96144" y="255786"/>
            <a:ext cx="5972200" cy="724942"/>
          </a:xfrm>
        </p:spPr>
        <p:txBody>
          <a:bodyPr>
            <a:noAutofit/>
          </a:bodyPr>
          <a:lstStyle/>
          <a:p>
            <a:pPr algn="ctr" eaLnBrk="1" hangingPunct="1"/>
            <a:r>
              <a:rPr lang="sk-SK" dirty="0" smtClean="0">
                <a:solidFill>
                  <a:schemeClr val="bg1">
                    <a:lumMod val="50000"/>
                  </a:schemeClr>
                </a:solidFill>
                <a:latin typeface="Franklin Gothic Book" charset="0"/>
              </a:rPr>
              <a:t>Pregunta</a:t>
            </a:r>
            <a:endParaRPr lang="sk-SK" dirty="0">
              <a:solidFill>
                <a:schemeClr val="bg1">
                  <a:lumMod val="50000"/>
                </a:schemeClr>
              </a:solidFill>
              <a:latin typeface="Franklin Gothic Book" charset="0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71600" y="1196752"/>
            <a:ext cx="6840760" cy="4392488"/>
          </a:xfr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s-CL" dirty="0" smtClean="0">
                <a:latin typeface="Helvetica"/>
                <a:cs typeface="Helvetica"/>
              </a:rPr>
              <a:t>Hay diferencias en altura entre hombres y mujeres?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s-CL" dirty="0" smtClean="0">
                <a:solidFill>
                  <a:srgbClr val="000090"/>
                </a:solidFill>
                <a:latin typeface="Helvetica"/>
                <a:cs typeface="Helvetica"/>
              </a:rPr>
              <a:t>R: Prueba de 2 colas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s-CL" dirty="0" smtClean="0">
              <a:solidFill>
                <a:srgbClr val="FF0000"/>
              </a:solidFill>
              <a:latin typeface="Helvetica"/>
              <a:cs typeface="Helvetica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s-CL" dirty="0" smtClean="0">
                <a:latin typeface="Helvetica"/>
                <a:cs typeface="Helvetica"/>
              </a:rPr>
              <a:t>Los hombres son en promedio más altos que las mujeres?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s-CL" dirty="0" smtClean="0">
                <a:solidFill>
                  <a:srgbClr val="000090"/>
                </a:solidFill>
                <a:latin typeface="Helvetica"/>
                <a:cs typeface="Helvetica"/>
              </a:rPr>
              <a:t>R: Prueba de 1 cola</a:t>
            </a:r>
            <a:endParaRPr lang="es-CL" dirty="0">
              <a:solidFill>
                <a:srgbClr val="00009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697834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6043</TotalTime>
  <Words>2686</Words>
  <Application>Microsoft Macintosh PowerPoint</Application>
  <PresentationFormat>On-screen Show (4:3)</PresentationFormat>
  <Paragraphs>803</Paragraphs>
  <Slides>66</Slides>
  <Notes>24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7" baseType="lpstr">
      <vt:lpstr>Equity</vt:lpstr>
      <vt:lpstr>PowerPoint Presentation</vt:lpstr>
      <vt:lpstr>Clase 4:Distribución de probabilidad</vt:lpstr>
      <vt:lpstr>Clase 5: Distribución de probabilidad</vt:lpstr>
      <vt:lpstr>Recordemos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¿Que hacemos con los datos?</vt:lpstr>
      <vt:lpstr>PowerPoint Presentation</vt:lpstr>
      <vt:lpstr>Estadística Inferencial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Prueba de hipótesis</vt:lpstr>
      <vt:lpstr>Ejemplo</vt:lpstr>
      <vt:lpstr>Prueba de hipótesis</vt:lpstr>
      <vt:lpstr>Prueba de hipótesis</vt:lpstr>
      <vt:lpstr>Prueba de hipótesis</vt:lpstr>
      <vt:lpstr>Prueba de hipótesis</vt:lpstr>
      <vt:lpstr>Prueba de hipótesis</vt:lpstr>
      <vt:lpstr>Problema</vt:lpstr>
      <vt:lpstr>Problema</vt:lpstr>
      <vt:lpstr>Datos extremos y valores de P</vt:lpstr>
      <vt:lpstr>Datos extremos y valores de P</vt:lpstr>
      <vt:lpstr>Datos extremos y valores de P</vt:lpstr>
      <vt:lpstr>Datos extremos y valores de P</vt:lpstr>
      <vt:lpstr>Pregunta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Statistics</dc:title>
  <dc:creator>Jojo</dc:creator>
  <cp:lastModifiedBy>Pablo</cp:lastModifiedBy>
  <cp:revision>732</cp:revision>
  <dcterms:created xsi:type="dcterms:W3CDTF">2013-09-24T07:44:05Z</dcterms:created>
  <dcterms:modified xsi:type="dcterms:W3CDTF">2018-09-05T15:25:01Z</dcterms:modified>
</cp:coreProperties>
</file>